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3de1ecb-3bc6-8375-931f-befaedbc70c4}">
          <p14:sldIdLst>
            <p14:sldId id="256"/>
            <p14:sldId id="257"/>
          </p14:sldIdLst>
        </p14:section>
        <p14:section name="Build" id="{957e8d14-14b8-d1c4-e52d-d4608b88120e}">
          <p14:sldIdLst>
            <p14:sldId id="258"/>
            <p14:sldId id="259"/>
          </p14:sldIdLst>
        </p14:section>
        <p14:section name="Deliver" id="{80e852ec-4538-d596-af07-c860d0c9aec4}">
          <p14:sldIdLst>
            <p14:sldId id="260"/>
            <p14:sldId id="261"/>
          </p14:sldIdLst>
        </p14:section>
        <p14:section name="Run" id="{de7a3d7c-c0bb-86b1-b7e4-4b7d88cbe573}">
          <p14:sldIdLst>
            <p14:sldId id="262"/>
            <p14:sldId id="263"/>
            <p14:sldId id="264"/>
          </p14:sldIdLst>
        </p14:section>
        <p14:section name="Wrap-up" id="{02ca9d3f-c28f-51b3-4439-6d5f123aa9f3}">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Palak. This is CareSlot, my DevOps capstone: a clinic appointment system, and the full delivery chain around it - tests, containers, a security gate, Terraform on AWS, Kubernetes with Helm and Argo CD, autoscaling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Reception uses it to register patients, manage doctors and book appointments. The backend enforces the rules: no overlapping bookings for a doctor or a patient, nothing in the past, and finished visits are read-only. The numbers at the bottom are the project in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layer by layer: React and Nginx in front, FastAPI with SQLAlchemy and Alembic behind, PostgreSQL for data, pytest for tests, Docker images built and scanned in GitHub Actions, Terraform for AWS, and Kubernetes with Helm, Argo CD, Prometheus and Grafana to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Traffic comes in through an AWS load balancer to ingress-nginx. The Ingress sends slash-api to the FastAPI backend and everything else to the React frontend. The backend talks to PostgreSQL on a persistent EBS volume. Prometheus scrapes the backend's metrics, and Argo CD keeps the whole namespace in sync with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push to main runs the pipeline. Job one tests: lint, 45 tests, migrations on a real PostgreSQL and the React build. Job two builds both images and scans them with Trivy before they can be pushed. Job three is GitOps: it writes the commit SHA into the Helm values in Git, and Argo CD on EKS deploys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builds the network and the cluster: a VPC with two public and two private subnets in two availability zones, one NAT gateway, and EKS 1.36 with two m7i-flex.large nodes in the private subnets. That's 53 resources from one apply, and one destroy removes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one Helm chart. On EKS, Argo CD owns it: it renders the chart from Git and keeps the cluster equal to it. The Ingress splits API and frontend traffic, and the autoscaler took the backend from two to six Pods under load, then back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monitoring, the backend publishes Prometheus metrics. A ServiceMonitor tells Prometheus to scrape every backend Pod, and Grafana turns them into a dashboard - here during a load test: request rate, latency, zero errors, and the extra Pods the autoscaler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runs in the pipeline. The backend image started with 44 HIGH vulnerabilities from Debian; moving to Alpine and removing pip brought both images to zero, so the gate can block every HIGH or CRITICAL finding. gitleaks checks the whole history, and every container runs as non-root.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learned: check what your own account allows instead of trusting general docs; module defaults can quietly break things like storage; GitOps changes how you design a chart; remove vulnerabilities rather than ignoring them; test in a real browser; and plan the teardown as carefully as the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for a real clinic would be login and roles, HTTPS on a proper domain, a managed RDS database, shared Terraform state and alerting. Everything I showed is in the repository.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2B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18872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731520" y="3429000"/>
            <a:ext cx="10698480" cy="1280160"/>
          </a:xfrm>
          <a:prstGeom prst="rect">
            <a:avLst/>
          </a:prstGeom>
          <a:noFill/>
          <a:ln/>
        </p:spPr>
        <p:txBody>
          <a:bodyPr wrap="square" rtlCol="0"/>
          <a:lstStyle>
            <a:lvl1pPr algn="l" indent="0" marL="0">
              <a:buNone/>
              <a:defRPr lang="en-US" sz="2000" dirty="0">
                <a:solidFill>
                  <a:schemeClr val="bg2"/>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CareSlot · DevOps capstone</a:t>
            </a:r>
            <a:endParaRPr lang="en-US" sz="1000" dirty="0"/>
          </a:p>
        </p:txBody>
      </p:sp>
      <p:sp>
        <p:nvSpPr>
          <p:cNvPr id="3" name="Text 1"/>
          <p:cNvSpPr/>
          <p:nvPr>
            <p:ph idx="101"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18872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CareSlot</a:t>
            </a:r>
            <a:endParaRPr lang="en-US" sz="5400" dirty="0"/>
          </a:p>
        </p:txBody>
      </p:sp>
      <p:sp>
        <p:nvSpPr>
          <p:cNvPr id="3" name="Text 0"/>
          <p:cNvSpPr/>
          <p:nvPr>
            <p:ph idx="101" type="body" hasCustomPrompt="1"/>
          </p:nvPr>
        </p:nvSpPr>
        <p:spPr>
          <a:xfrm>
            <a:off x="731520" y="3429000"/>
            <a:ext cx="10698480" cy="1280160"/>
          </a:xfrm>
          <a:prstGeom prst="rect">
            <a:avLst/>
          </a:prstGeom>
          <a:noFill/>
          <a:ln/>
        </p:spPr>
        <p:txBody>
          <a:bodyPr wrap="square" lIns="0" tIns="0" rIns="0" bIns="0" rtlCol="0" anchor="t"/>
          <a:lstStyle/>
          <a:p>
            <a:pPr algn="l" indent="0" marL="0">
              <a:buNone/>
            </a:pPr>
            <a:r>
              <a:rPr lang="en-US" sz="2000" dirty="0">
                <a:solidFill>
                  <a:schemeClr val="bg2"/>
                </a:solidFill>
                <a:latin typeface="Calibri" pitchFamily="34" charset="0"/>
                <a:ea typeface="Calibri" pitchFamily="34" charset="-122"/>
                <a:cs typeface="Calibri" pitchFamily="34" charset="-120"/>
              </a:rPr>
              <a:t>Clinic appointment system - DevOps final project</a:t>
            </a:r>
            <a:endParaRPr lang="en-US" sz="2000" dirty="0"/>
          </a:p>
          <a:p>
            <a:pPr algn="l" indent="0" marL="0">
              <a:buNone/>
            </a:pPr>
            <a:r>
              <a:rPr lang="en-US" sz="1600" dirty="0">
                <a:solidFill>
                  <a:schemeClr val="accent2"/>
                </a:solidFill>
                <a:latin typeface="Calibri" pitchFamily="34" charset="0"/>
                <a:ea typeface="Calibri" pitchFamily="34" charset="-122"/>
                <a:cs typeface="Calibri" pitchFamily="34" charset="-120"/>
              </a:rPr>
              <a:t>Palak Agrawal · 24BCS10504 · Session 21 capstone</a:t>
            </a:r>
            <a:endParaRPr lang="en-US" sz="2000" dirty="0"/>
          </a:p>
        </p:txBody>
      </p:sp>
      <p:sp>
        <p:nvSpPr>
          <p:cNvPr id="4" name="Title circle"/>
          <p:cNvSpPr/>
          <p:nvPr/>
        </p:nvSpPr>
        <p:spPr>
          <a:xfrm>
            <a:off x="9966960" y="731520"/>
            <a:ext cx="1371600" cy="1371600"/>
          </a:xfrm>
          <a:prstGeom prst="ellipse">
            <a:avLst/>
          </a:prstGeom>
          <a:solidFill>
            <a:schemeClr val="accent1"/>
          </a:solidFill>
          <a:ln/>
        </p:spPr>
      </p:sp>
      <p:pic>
        <p:nvPicPr>
          <p:cNvPr id="5" name="Title icon" descr="preencoded.png">    </p:cNvPr>
          <p:cNvPicPr>
            <a:picLocks noChangeAspect="1"/>
          </p:cNvPicPr>
          <p:nvPr/>
        </p:nvPicPr>
        <p:blipFill>
          <a:blip r:embed="rId1"/>
          <a:stretch>
            <a:fillRect/>
          </a:stretch>
        </p:blipFill>
        <p:spPr>
          <a:xfrm>
            <a:off x="10268712" y="1033272"/>
            <a:ext cx="768096" cy="7680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What CareSlot does</a:t>
            </a:r>
            <a:endParaRPr lang="en-US" sz="3600" dirty="0"/>
          </a:p>
        </p:txBody>
      </p:sp>
      <p:sp>
        <p:nvSpPr>
          <p:cNvPr id="3" name="Overview bullets"/>
          <p:cNvSpPr txBox="1"/>
          <p:nvPr/>
        </p:nvSpPr>
        <p:spPr>
          <a:xfrm>
            <a:off x="548640" y="1325880"/>
            <a:ext cx="5120640" cy="34747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2"/>
                </a:solidFill>
              </a:rPr>
              <a:t>Reception registers patients (10-digit mobile, optional email and date of birth)</a:t>
            </a:r>
            <a:endParaRPr lang="en-US" sz="1400" dirty="0"/>
          </a:p>
          <a:p>
            <a:pPr marL="342900" indent="-342900">
              <a:spcAft>
                <a:spcPts val="600"/>
              </a:spcAft>
              <a:buSzPct val="100000"/>
              <a:buChar char="•"/>
            </a:pPr>
            <a:r>
              <a:rPr lang="en-US" sz="1600" dirty="0">
                <a:solidFill>
                  <a:schemeClr val="tx2"/>
                </a:solidFill>
              </a:rPr>
              <a:t>Manages the doctor roster and availability</a:t>
            </a:r>
            <a:endParaRPr lang="en-US" sz="1400" dirty="0"/>
          </a:p>
          <a:p>
            <a:pPr marL="342900" indent="-342900">
              <a:spcAft>
                <a:spcPts val="600"/>
              </a:spcAft>
              <a:buSzPct val="100000"/>
              <a:buChar char="•"/>
            </a:pPr>
            <a:r>
              <a:rPr lang="en-US" sz="1600" dirty="0">
                <a:solidFill>
                  <a:schemeClr val="tx2"/>
                </a:solidFill>
              </a:rPr>
              <a:t>Books visits: SCHEDULED → CHECKED IN → COMPLETED or CANCELLED</a:t>
            </a:r>
            <a:endParaRPr lang="en-US" sz="1400" dirty="0"/>
          </a:p>
          <a:p>
            <a:pPr marL="342900" indent="-342900">
              <a:spcAft>
                <a:spcPts val="600"/>
              </a:spcAft>
              <a:buSzPct val="100000"/>
              <a:buChar char="•"/>
            </a:pPr>
            <a:r>
              <a:rPr lang="en-US" sz="1600" dirty="0">
                <a:solidFill>
                  <a:schemeClr val="tx2"/>
                </a:solidFill>
              </a:rPr>
              <a:t>Blocks double booking of a doctor or a patient, bookings in the past and edits to finished visits</a:t>
            </a:r>
            <a:endParaRPr lang="en-US" sz="1400" dirty="0"/>
          </a:p>
          <a:p>
            <a:pPr marL="342900" indent="-342900">
              <a:spcAft>
                <a:spcPts val="600"/>
              </a:spcAft>
              <a:buSzPct val="100000"/>
              <a:buChar char="•"/>
            </a:pPr>
            <a:r>
              <a:rPr lang="en-US" sz="1600" dirty="0">
                <a:solidFill>
                  <a:schemeClr val="tx2"/>
                </a:solidFill>
              </a:rPr>
              <a:t>Live dashboard; works on phones</a:t>
            </a:r>
            <a:endParaRPr lang="en-US" sz="1400" dirty="0"/>
          </a:p>
        </p:txBody>
      </p:sp>
      <p:pic>
        <p:nvPicPr>
          <p:cNvPr id="4" name="Dashboard screenshot" descr="C:\Users\Asus\AppData\Local\Temp\claude\C--Users-Asus-Documents-3rd-year-term-1-devops-nency-mam\68230852-859c-4662-bacc-99c8e7e44c13\scratchpad\deck\img\m1-app-dashboard.png">    </p:cNvPr>
          <p:cNvPicPr>
            <a:picLocks noChangeAspect="1"/>
          </p:cNvPicPr>
          <p:nvPr/>
        </p:nvPicPr>
        <p:blipFill>
          <a:blip r:embed="rId1"/>
          <a:stretch>
            <a:fillRect/>
          </a:stretch>
        </p:blipFill>
        <p:spPr>
          <a:xfrm>
            <a:off x="5943600" y="1280160"/>
            <a:ext cx="5669280" cy="3396812"/>
          </a:xfrm>
          <a:prstGeom prst="rect">
            <a:avLst/>
          </a:prstGeom>
        </p:spPr>
      </p:pic>
      <p:sp>
        <p:nvSpPr>
          <p:cNvPr id="5" name="Overview stat 1"/>
          <p:cNvSpPr/>
          <p:nvPr/>
        </p:nvSpPr>
        <p:spPr>
          <a:xfrm>
            <a:off x="548640" y="4937760"/>
            <a:ext cx="2651760" cy="1280160"/>
          </a:xfrm>
          <a:prstGeom prst="roundRect">
            <a:avLst>
              <a:gd name="adj" fmla="val 8571"/>
            </a:avLst>
          </a:prstGeom>
          <a:solidFill>
            <a:schemeClr val="bg2"/>
          </a:solidFill>
          <a:ln/>
        </p:spPr>
      </p:sp>
      <p:sp>
        <p:nvSpPr>
          <p:cNvPr id="6" name="Overview stat 1 value"/>
          <p:cNvSpPr txBox="1"/>
          <p:nvPr/>
        </p:nvSpPr>
        <p:spPr>
          <a:xfrm>
            <a:off x="777240" y="5074920"/>
            <a:ext cx="2194560" cy="704088"/>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45</a:t>
            </a:r>
            <a:endParaRPr lang="en-US" sz="3600" dirty="0"/>
          </a:p>
        </p:txBody>
      </p:sp>
      <p:sp>
        <p:nvSpPr>
          <p:cNvPr id="7" name="Overview stat 1 label"/>
          <p:cNvSpPr txBox="1"/>
          <p:nvPr/>
        </p:nvSpPr>
        <p:spPr>
          <a:xfrm>
            <a:off x="777240" y="5779008"/>
            <a:ext cx="2194560" cy="448056"/>
          </a:xfrm>
          <a:prstGeom prst="rect">
            <a:avLst/>
          </a:prstGeom>
          <a:noFill/>
          <a:ln/>
        </p:spPr>
        <p:txBody>
          <a:bodyPr wrap="square" lIns="0" tIns="0" rIns="0" bIns="0" rtlCol="0" anchor="t"/>
          <a:lstStyle/>
          <a:p>
            <a:pPr indent="0" marL="0">
              <a:buNone/>
            </a:pPr>
            <a:r>
              <a:rPr lang="en-US" sz="1200" dirty="0">
                <a:solidFill>
                  <a:schemeClr val="accent6"/>
                </a:solidFill>
              </a:rPr>
              <a:t>automated tests (pytest)</a:t>
            </a:r>
            <a:endParaRPr lang="en-US" sz="1200" dirty="0"/>
          </a:p>
        </p:txBody>
      </p:sp>
      <p:sp>
        <p:nvSpPr>
          <p:cNvPr id="8" name="Overview stat 2"/>
          <p:cNvSpPr/>
          <p:nvPr/>
        </p:nvSpPr>
        <p:spPr>
          <a:xfrm>
            <a:off x="3383280" y="4937760"/>
            <a:ext cx="2651760" cy="1280160"/>
          </a:xfrm>
          <a:prstGeom prst="roundRect">
            <a:avLst>
              <a:gd name="adj" fmla="val 8571"/>
            </a:avLst>
          </a:prstGeom>
          <a:solidFill>
            <a:schemeClr val="bg2"/>
          </a:solidFill>
          <a:ln/>
        </p:spPr>
      </p:sp>
      <p:sp>
        <p:nvSpPr>
          <p:cNvPr id="9" name="Overview stat 2 value"/>
          <p:cNvSpPr txBox="1"/>
          <p:nvPr/>
        </p:nvSpPr>
        <p:spPr>
          <a:xfrm>
            <a:off x="3611880" y="5074920"/>
            <a:ext cx="2194560" cy="704088"/>
          </a:xfrm>
          <a:prstGeom prst="rect">
            <a:avLst/>
          </a:prstGeom>
          <a:noFill/>
          <a:ln/>
        </p:spPr>
        <p:txBody>
          <a:bodyPr wrap="square" lIns="0" tIns="0" rIns="0" bIns="0" rtlCol="0" anchor="b"/>
          <a:lstStyle/>
          <a:p>
            <a:pPr indent="0" marL="0">
              <a:buNone/>
            </a:pPr>
            <a:r>
              <a:rPr lang="en-US" sz="3600" b="1" dirty="0">
                <a:solidFill>
                  <a:schemeClr val="accent4"/>
                </a:solidFill>
                <a:latin typeface="Cambria" pitchFamily="34" charset="0"/>
                <a:ea typeface="Cambria" pitchFamily="34" charset="-122"/>
                <a:cs typeface="Cambria" pitchFamily="34" charset="-120"/>
              </a:rPr>
              <a:t>0</a:t>
            </a:r>
            <a:endParaRPr lang="en-US" sz="3600" dirty="0"/>
          </a:p>
        </p:txBody>
      </p:sp>
      <p:sp>
        <p:nvSpPr>
          <p:cNvPr id="10" name="Overview stat 2 label"/>
          <p:cNvSpPr txBox="1"/>
          <p:nvPr/>
        </p:nvSpPr>
        <p:spPr>
          <a:xfrm>
            <a:off x="3611880" y="5779008"/>
            <a:ext cx="2194560" cy="448056"/>
          </a:xfrm>
          <a:prstGeom prst="rect">
            <a:avLst/>
          </a:prstGeom>
          <a:noFill/>
          <a:ln/>
        </p:spPr>
        <p:txBody>
          <a:bodyPr wrap="square" lIns="0" tIns="0" rIns="0" bIns="0" rtlCol="0" anchor="t"/>
          <a:lstStyle/>
          <a:p>
            <a:pPr indent="0" marL="0">
              <a:buNone/>
            </a:pPr>
            <a:r>
              <a:rPr lang="en-US" sz="1200" dirty="0">
                <a:solidFill>
                  <a:schemeClr val="accent6"/>
                </a:solidFill>
              </a:rPr>
              <a:t>vulnerabilities in both images</a:t>
            </a:r>
            <a:endParaRPr lang="en-US" sz="1200" dirty="0"/>
          </a:p>
        </p:txBody>
      </p:sp>
      <p:sp>
        <p:nvSpPr>
          <p:cNvPr id="11" name="Overview stat 3"/>
          <p:cNvSpPr/>
          <p:nvPr/>
        </p:nvSpPr>
        <p:spPr>
          <a:xfrm>
            <a:off x="6217920" y="4937760"/>
            <a:ext cx="2651760" cy="1280160"/>
          </a:xfrm>
          <a:prstGeom prst="roundRect">
            <a:avLst>
              <a:gd name="adj" fmla="val 8571"/>
            </a:avLst>
          </a:prstGeom>
          <a:solidFill>
            <a:schemeClr val="bg2"/>
          </a:solidFill>
          <a:ln/>
        </p:spPr>
      </p:sp>
      <p:sp>
        <p:nvSpPr>
          <p:cNvPr id="12" name="Overview stat 3 value"/>
          <p:cNvSpPr txBox="1"/>
          <p:nvPr/>
        </p:nvSpPr>
        <p:spPr>
          <a:xfrm>
            <a:off x="6446520" y="5074920"/>
            <a:ext cx="2194560" cy="704088"/>
          </a:xfrm>
          <a:prstGeom prst="rect">
            <a:avLst/>
          </a:prstGeom>
          <a:noFill/>
          <a:ln/>
        </p:spPr>
        <p:txBody>
          <a:bodyPr wrap="square" lIns="0" tIns="0" rIns="0" bIns="0" rtlCol="0" anchor="b"/>
          <a:lstStyle/>
          <a:p>
            <a:pPr indent="0" marL="0">
              <a:buNone/>
            </a:pPr>
            <a:r>
              <a:rPr lang="en-US" sz="3600" b="1" dirty="0">
                <a:solidFill>
                  <a:schemeClr val="accent3"/>
                </a:solidFill>
                <a:latin typeface="Cambria" pitchFamily="34" charset="0"/>
                <a:ea typeface="Cambria" pitchFamily="34" charset="-122"/>
                <a:cs typeface="Cambria" pitchFamily="34" charset="-120"/>
              </a:rPr>
              <a:t>53</a:t>
            </a:r>
            <a:endParaRPr lang="en-US" sz="3600" dirty="0"/>
          </a:p>
        </p:txBody>
      </p:sp>
      <p:sp>
        <p:nvSpPr>
          <p:cNvPr id="13" name="Overview stat 3 label"/>
          <p:cNvSpPr txBox="1"/>
          <p:nvPr/>
        </p:nvSpPr>
        <p:spPr>
          <a:xfrm>
            <a:off x="6446520" y="5779008"/>
            <a:ext cx="2194560" cy="448056"/>
          </a:xfrm>
          <a:prstGeom prst="rect">
            <a:avLst/>
          </a:prstGeom>
          <a:noFill/>
          <a:ln/>
        </p:spPr>
        <p:txBody>
          <a:bodyPr wrap="square" lIns="0" tIns="0" rIns="0" bIns="0" rtlCol="0" anchor="t"/>
          <a:lstStyle/>
          <a:p>
            <a:pPr indent="0" marL="0">
              <a:buNone/>
            </a:pPr>
            <a:r>
              <a:rPr lang="en-US" sz="1200" dirty="0">
                <a:solidFill>
                  <a:schemeClr val="accent6"/>
                </a:solidFill>
              </a:rPr>
              <a:t>AWS resources from Terraform</a:t>
            </a:r>
            <a:endParaRPr lang="en-US" sz="1200" dirty="0"/>
          </a:p>
        </p:txBody>
      </p:sp>
      <p:sp>
        <p:nvSpPr>
          <p:cNvPr id="14" name="Overview stat 4"/>
          <p:cNvSpPr/>
          <p:nvPr/>
        </p:nvSpPr>
        <p:spPr>
          <a:xfrm>
            <a:off x="9052560" y="4937760"/>
            <a:ext cx="2651760" cy="1280160"/>
          </a:xfrm>
          <a:prstGeom prst="roundRect">
            <a:avLst>
              <a:gd name="adj" fmla="val 8571"/>
            </a:avLst>
          </a:prstGeom>
          <a:solidFill>
            <a:schemeClr val="bg2"/>
          </a:solidFill>
          <a:ln/>
        </p:spPr>
      </p:sp>
      <p:sp>
        <p:nvSpPr>
          <p:cNvPr id="15" name="Overview stat 4 value"/>
          <p:cNvSpPr txBox="1"/>
          <p:nvPr/>
        </p:nvSpPr>
        <p:spPr>
          <a:xfrm>
            <a:off x="9281160" y="5074920"/>
            <a:ext cx="2194560" cy="704088"/>
          </a:xfrm>
          <a:prstGeom prst="rect">
            <a:avLst/>
          </a:prstGeom>
          <a:noFill/>
          <a:ln/>
        </p:spPr>
        <p:txBody>
          <a:bodyPr wrap="square" lIns="0" tIns="0" rIns="0" bIns="0" rtlCol="0" anchor="b"/>
          <a:lstStyle/>
          <a:p>
            <a:pPr indent="0" marL="0">
              <a:buNone/>
            </a:pPr>
            <a:r>
              <a:rPr lang="en-US" sz="3600" b="1" dirty="0">
                <a:solidFill>
                  <a:schemeClr val="accent2"/>
                </a:solidFill>
                <a:latin typeface="Cambria" pitchFamily="34" charset="0"/>
                <a:ea typeface="Cambria" pitchFamily="34" charset="-122"/>
                <a:cs typeface="Cambria" pitchFamily="34" charset="-120"/>
              </a:rPr>
              <a:t>14</a:t>
            </a:r>
            <a:endParaRPr lang="en-US" sz="3600" dirty="0"/>
          </a:p>
        </p:txBody>
      </p:sp>
      <p:sp>
        <p:nvSpPr>
          <p:cNvPr id="16" name="Overview stat 4 label"/>
          <p:cNvSpPr txBox="1"/>
          <p:nvPr/>
        </p:nvSpPr>
        <p:spPr>
          <a:xfrm>
            <a:off x="9281160" y="5779008"/>
            <a:ext cx="2194560" cy="448056"/>
          </a:xfrm>
          <a:prstGeom prst="rect">
            <a:avLst/>
          </a:prstGeom>
          <a:noFill/>
          <a:ln/>
        </p:spPr>
        <p:txBody>
          <a:bodyPr wrap="square" lIns="0" tIns="0" rIns="0" bIns="0" rtlCol="0" anchor="t"/>
          <a:lstStyle/>
          <a:p>
            <a:pPr indent="0" marL="0">
              <a:buNone/>
            </a:pPr>
            <a:r>
              <a:rPr lang="en-US" sz="1200" dirty="0">
                <a:solidFill>
                  <a:schemeClr val="accent6"/>
                </a:solidFill>
              </a:rPr>
              <a:t>REST endpoints, 3 resources + stats</a:t>
            </a:r>
            <a:endParaRPr lang="en-US" sz="12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Tech stack</a:t>
            </a:r>
            <a:endParaRPr lang="en-US" sz="3600" dirty="0"/>
          </a:p>
        </p:txBody>
      </p:sp>
      <p:sp>
        <p:nvSpPr>
          <p:cNvPr id="3" name="Stack card Frontend"/>
          <p:cNvSpPr/>
          <p:nvPr/>
        </p:nvSpPr>
        <p:spPr>
          <a:xfrm>
            <a:off x="548640" y="1325880"/>
            <a:ext cx="2651760" cy="2286000"/>
          </a:xfrm>
          <a:prstGeom prst="roundRect">
            <a:avLst>
              <a:gd name="adj" fmla="val 4800"/>
            </a:avLst>
          </a:prstGeom>
          <a:solidFill>
            <a:schemeClr val="bg2"/>
          </a:solidFill>
          <a:ln/>
        </p:spPr>
      </p:sp>
      <p:sp>
        <p:nvSpPr>
          <p:cNvPr id="4" name="Stack Frontend circle"/>
          <p:cNvSpPr/>
          <p:nvPr/>
        </p:nvSpPr>
        <p:spPr>
          <a:xfrm>
            <a:off x="777240" y="1554480"/>
            <a:ext cx="685800" cy="685800"/>
          </a:xfrm>
          <a:prstGeom prst="ellipse">
            <a:avLst/>
          </a:prstGeom>
          <a:solidFill>
            <a:schemeClr val="accent3"/>
          </a:solidFill>
          <a:ln/>
        </p:spPr>
      </p:sp>
      <p:pic>
        <p:nvPicPr>
          <p:cNvPr id="5" name="Stack Frontend icon" descr="preencoded.png">    </p:cNvPr>
          <p:cNvPicPr>
            <a:picLocks noChangeAspect="1"/>
          </p:cNvPicPr>
          <p:nvPr/>
        </p:nvPicPr>
        <p:blipFill>
          <a:blip r:embed="rId1"/>
          <a:stretch>
            <a:fillRect/>
          </a:stretch>
        </p:blipFill>
        <p:spPr>
          <a:xfrm>
            <a:off x="928116" y="1705356"/>
            <a:ext cx="384048" cy="384048"/>
          </a:xfrm>
          <a:prstGeom prst="rect">
            <a:avLst/>
          </a:prstGeom>
        </p:spPr>
      </p:pic>
      <p:sp>
        <p:nvSpPr>
          <p:cNvPr id="6" name="Stack head Frontend"/>
          <p:cNvSpPr txBox="1"/>
          <p:nvPr/>
        </p:nvSpPr>
        <p:spPr>
          <a:xfrm>
            <a:off x="777240" y="2377440"/>
            <a:ext cx="2194560" cy="365760"/>
          </a:xfrm>
          <a:prstGeom prst="rect">
            <a:avLst/>
          </a:prstGeom>
          <a:noFill/>
          <a:ln/>
        </p:spPr>
        <p:txBody>
          <a:bodyPr wrap="square" lIns="0" tIns="0" rIns="0" bIns="0" rtlCol="0" anchor="t"/>
          <a:lstStyle/>
          <a:p>
            <a:pPr indent="0" marL="0">
              <a:buNone/>
            </a:pPr>
            <a:r>
              <a:rPr lang="en-US" sz="1800" b="1" dirty="0">
                <a:solidFill>
                  <a:schemeClr val="tx1"/>
                </a:solidFill>
              </a:rPr>
              <a:t>Frontend</a:t>
            </a:r>
            <a:endParaRPr lang="en-US" sz="1800" dirty="0"/>
          </a:p>
        </p:txBody>
      </p:sp>
      <p:sp>
        <p:nvSpPr>
          <p:cNvPr id="7" name="Stack body Frontend"/>
          <p:cNvSpPr txBox="1"/>
          <p:nvPr/>
        </p:nvSpPr>
        <p:spPr>
          <a:xfrm>
            <a:off x="777240" y="2743200"/>
            <a:ext cx="2240280" cy="777240"/>
          </a:xfrm>
          <a:prstGeom prst="rect">
            <a:avLst/>
          </a:prstGeom>
          <a:noFill/>
          <a:ln/>
        </p:spPr>
        <p:txBody>
          <a:bodyPr wrap="square" lIns="0" tIns="0" rIns="0" bIns="0" rtlCol="0" anchor="t"/>
          <a:lstStyle/>
          <a:p>
            <a:pPr indent="0" marL="0">
              <a:buNone/>
            </a:pPr>
            <a:r>
              <a:rPr lang="en-US" sz="1300" dirty="0">
                <a:solidFill>
                  <a:schemeClr val="tx2"/>
                </a:solidFill>
              </a:rPr>
              <a:t>React 19 · Vite 8 · Nginx (non-root)</a:t>
            </a:r>
            <a:endParaRPr lang="en-US" sz="1300" dirty="0"/>
          </a:p>
        </p:txBody>
      </p:sp>
      <p:sp>
        <p:nvSpPr>
          <p:cNvPr id="8" name="Stack card Backend"/>
          <p:cNvSpPr/>
          <p:nvPr/>
        </p:nvSpPr>
        <p:spPr>
          <a:xfrm>
            <a:off x="3383280" y="1325880"/>
            <a:ext cx="2651760" cy="2286000"/>
          </a:xfrm>
          <a:prstGeom prst="roundRect">
            <a:avLst>
              <a:gd name="adj" fmla="val 4800"/>
            </a:avLst>
          </a:prstGeom>
          <a:solidFill>
            <a:schemeClr val="bg2"/>
          </a:solidFill>
          <a:ln/>
        </p:spPr>
      </p:sp>
      <p:sp>
        <p:nvSpPr>
          <p:cNvPr id="9" name="Stack Backend circle"/>
          <p:cNvSpPr/>
          <p:nvPr/>
        </p:nvSpPr>
        <p:spPr>
          <a:xfrm>
            <a:off x="3611880" y="1554480"/>
            <a:ext cx="685800" cy="685800"/>
          </a:xfrm>
          <a:prstGeom prst="ellipse">
            <a:avLst/>
          </a:prstGeom>
          <a:solidFill>
            <a:schemeClr val="accent1"/>
          </a:solidFill>
          <a:ln/>
        </p:spPr>
      </p:sp>
      <p:pic>
        <p:nvPicPr>
          <p:cNvPr id="10" name="Stack Backend icon" descr="preencoded.png">    </p:cNvPr>
          <p:cNvPicPr>
            <a:picLocks noChangeAspect="1"/>
          </p:cNvPicPr>
          <p:nvPr/>
        </p:nvPicPr>
        <p:blipFill>
          <a:blip r:embed="rId2"/>
          <a:stretch>
            <a:fillRect/>
          </a:stretch>
        </p:blipFill>
        <p:spPr>
          <a:xfrm>
            <a:off x="3762756" y="1705356"/>
            <a:ext cx="384048" cy="384048"/>
          </a:xfrm>
          <a:prstGeom prst="rect">
            <a:avLst/>
          </a:prstGeom>
        </p:spPr>
      </p:pic>
      <p:sp>
        <p:nvSpPr>
          <p:cNvPr id="11" name="Stack head Backend"/>
          <p:cNvSpPr txBox="1"/>
          <p:nvPr/>
        </p:nvSpPr>
        <p:spPr>
          <a:xfrm>
            <a:off x="3611880" y="2377440"/>
            <a:ext cx="2194560" cy="365760"/>
          </a:xfrm>
          <a:prstGeom prst="rect">
            <a:avLst/>
          </a:prstGeom>
          <a:noFill/>
          <a:ln/>
        </p:spPr>
        <p:txBody>
          <a:bodyPr wrap="square" lIns="0" tIns="0" rIns="0" bIns="0" rtlCol="0" anchor="t"/>
          <a:lstStyle/>
          <a:p>
            <a:pPr indent="0" marL="0">
              <a:buNone/>
            </a:pPr>
            <a:r>
              <a:rPr lang="en-US" sz="1800" b="1" dirty="0">
                <a:solidFill>
                  <a:schemeClr val="tx1"/>
                </a:solidFill>
              </a:rPr>
              <a:t>Backend</a:t>
            </a:r>
            <a:endParaRPr lang="en-US" sz="1800" dirty="0"/>
          </a:p>
        </p:txBody>
      </p:sp>
      <p:sp>
        <p:nvSpPr>
          <p:cNvPr id="12" name="Stack body Backend"/>
          <p:cNvSpPr txBox="1"/>
          <p:nvPr/>
        </p:nvSpPr>
        <p:spPr>
          <a:xfrm>
            <a:off x="3611880" y="2743200"/>
            <a:ext cx="2240280" cy="777240"/>
          </a:xfrm>
          <a:prstGeom prst="rect">
            <a:avLst/>
          </a:prstGeom>
          <a:noFill/>
          <a:ln/>
        </p:spPr>
        <p:txBody>
          <a:bodyPr wrap="square" lIns="0" tIns="0" rIns="0" bIns="0" rtlCol="0" anchor="t"/>
          <a:lstStyle/>
          <a:p>
            <a:pPr indent="0" marL="0">
              <a:buNone/>
            </a:pPr>
            <a:r>
              <a:rPr lang="en-US" sz="1300" dirty="0">
                <a:solidFill>
                  <a:schemeClr val="tx2"/>
                </a:solidFill>
              </a:rPr>
              <a:t>FastAPI · SQLAlchemy 2 · Pydantic · Alembic</a:t>
            </a:r>
            <a:endParaRPr lang="en-US" sz="1300" dirty="0"/>
          </a:p>
        </p:txBody>
      </p:sp>
      <p:sp>
        <p:nvSpPr>
          <p:cNvPr id="13" name="Stack card Database"/>
          <p:cNvSpPr/>
          <p:nvPr/>
        </p:nvSpPr>
        <p:spPr>
          <a:xfrm>
            <a:off x="6217920" y="1325880"/>
            <a:ext cx="2651760" cy="2286000"/>
          </a:xfrm>
          <a:prstGeom prst="roundRect">
            <a:avLst>
              <a:gd name="adj" fmla="val 4800"/>
            </a:avLst>
          </a:prstGeom>
          <a:solidFill>
            <a:schemeClr val="bg2"/>
          </a:solidFill>
          <a:ln/>
        </p:spPr>
      </p:sp>
      <p:sp>
        <p:nvSpPr>
          <p:cNvPr id="14" name="Stack Database circle"/>
          <p:cNvSpPr/>
          <p:nvPr/>
        </p:nvSpPr>
        <p:spPr>
          <a:xfrm>
            <a:off x="6446520" y="1554480"/>
            <a:ext cx="685800" cy="685800"/>
          </a:xfrm>
          <a:prstGeom prst="ellipse">
            <a:avLst/>
          </a:prstGeom>
          <a:solidFill>
            <a:schemeClr val="accent6"/>
          </a:solidFill>
          <a:ln/>
        </p:spPr>
      </p:sp>
      <p:pic>
        <p:nvPicPr>
          <p:cNvPr id="15" name="Stack Database icon" descr="preencoded.png">    </p:cNvPr>
          <p:cNvPicPr>
            <a:picLocks noChangeAspect="1"/>
          </p:cNvPicPr>
          <p:nvPr/>
        </p:nvPicPr>
        <p:blipFill>
          <a:blip r:embed="rId3"/>
          <a:stretch>
            <a:fillRect/>
          </a:stretch>
        </p:blipFill>
        <p:spPr>
          <a:xfrm>
            <a:off x="6597396" y="1705356"/>
            <a:ext cx="384048" cy="384048"/>
          </a:xfrm>
          <a:prstGeom prst="rect">
            <a:avLst/>
          </a:prstGeom>
        </p:spPr>
      </p:pic>
      <p:sp>
        <p:nvSpPr>
          <p:cNvPr id="16" name="Stack head Database"/>
          <p:cNvSpPr txBox="1"/>
          <p:nvPr/>
        </p:nvSpPr>
        <p:spPr>
          <a:xfrm>
            <a:off x="6446520" y="2377440"/>
            <a:ext cx="2194560" cy="365760"/>
          </a:xfrm>
          <a:prstGeom prst="rect">
            <a:avLst/>
          </a:prstGeom>
          <a:noFill/>
          <a:ln/>
        </p:spPr>
        <p:txBody>
          <a:bodyPr wrap="square" lIns="0" tIns="0" rIns="0" bIns="0" rtlCol="0" anchor="t"/>
          <a:lstStyle/>
          <a:p>
            <a:pPr indent="0" marL="0">
              <a:buNone/>
            </a:pPr>
            <a:r>
              <a:rPr lang="en-US" sz="1800" b="1" dirty="0">
                <a:solidFill>
                  <a:schemeClr val="tx1"/>
                </a:solidFill>
              </a:rPr>
              <a:t>Database</a:t>
            </a:r>
            <a:endParaRPr lang="en-US" sz="1800" dirty="0"/>
          </a:p>
        </p:txBody>
      </p:sp>
      <p:sp>
        <p:nvSpPr>
          <p:cNvPr id="17" name="Stack body Database"/>
          <p:cNvSpPr txBox="1"/>
          <p:nvPr/>
        </p:nvSpPr>
        <p:spPr>
          <a:xfrm>
            <a:off x="6446520" y="2743200"/>
            <a:ext cx="2240280" cy="777240"/>
          </a:xfrm>
          <a:prstGeom prst="rect">
            <a:avLst/>
          </a:prstGeom>
          <a:noFill/>
          <a:ln/>
        </p:spPr>
        <p:txBody>
          <a:bodyPr wrap="square" lIns="0" tIns="0" rIns="0" bIns="0" rtlCol="0" anchor="t"/>
          <a:lstStyle/>
          <a:p>
            <a:pPr indent="0" marL="0">
              <a:buNone/>
            </a:pPr>
            <a:r>
              <a:rPr lang="en-US" sz="1300" dirty="0">
                <a:solidFill>
                  <a:schemeClr val="tx2"/>
                </a:solidFill>
              </a:rPr>
              <a:t>PostgreSQL 16 · EBS gp3 volume</a:t>
            </a:r>
            <a:endParaRPr lang="en-US" sz="1300" dirty="0"/>
          </a:p>
        </p:txBody>
      </p:sp>
      <p:sp>
        <p:nvSpPr>
          <p:cNvPr id="18" name="Stack card Testing"/>
          <p:cNvSpPr/>
          <p:nvPr/>
        </p:nvSpPr>
        <p:spPr>
          <a:xfrm>
            <a:off x="9052560" y="1325880"/>
            <a:ext cx="2651760" cy="2286000"/>
          </a:xfrm>
          <a:prstGeom prst="roundRect">
            <a:avLst>
              <a:gd name="adj" fmla="val 4800"/>
            </a:avLst>
          </a:prstGeom>
          <a:solidFill>
            <a:schemeClr val="bg2"/>
          </a:solidFill>
          <a:ln/>
        </p:spPr>
      </p:sp>
      <p:sp>
        <p:nvSpPr>
          <p:cNvPr id="19" name="Stack Testing circle"/>
          <p:cNvSpPr/>
          <p:nvPr/>
        </p:nvSpPr>
        <p:spPr>
          <a:xfrm>
            <a:off x="9281160" y="1554480"/>
            <a:ext cx="685800" cy="685800"/>
          </a:xfrm>
          <a:prstGeom prst="ellipse">
            <a:avLst/>
          </a:prstGeom>
          <a:solidFill>
            <a:schemeClr val="accent4"/>
          </a:solidFill>
          <a:ln/>
        </p:spPr>
      </p:sp>
      <p:pic>
        <p:nvPicPr>
          <p:cNvPr id="20" name="Stack Testing icon" descr="preencoded.png">    </p:cNvPr>
          <p:cNvPicPr>
            <a:picLocks noChangeAspect="1"/>
          </p:cNvPicPr>
          <p:nvPr/>
        </p:nvPicPr>
        <p:blipFill>
          <a:blip r:embed="rId4"/>
          <a:stretch>
            <a:fillRect/>
          </a:stretch>
        </p:blipFill>
        <p:spPr>
          <a:xfrm>
            <a:off x="9432036" y="1705356"/>
            <a:ext cx="384048" cy="384048"/>
          </a:xfrm>
          <a:prstGeom prst="rect">
            <a:avLst/>
          </a:prstGeom>
        </p:spPr>
      </p:pic>
      <p:sp>
        <p:nvSpPr>
          <p:cNvPr id="21" name="Stack head Testing"/>
          <p:cNvSpPr txBox="1"/>
          <p:nvPr/>
        </p:nvSpPr>
        <p:spPr>
          <a:xfrm>
            <a:off x="9281160" y="2377440"/>
            <a:ext cx="2194560" cy="365760"/>
          </a:xfrm>
          <a:prstGeom prst="rect">
            <a:avLst/>
          </a:prstGeom>
          <a:noFill/>
          <a:ln/>
        </p:spPr>
        <p:txBody>
          <a:bodyPr wrap="square" lIns="0" tIns="0" rIns="0" bIns="0" rtlCol="0" anchor="t"/>
          <a:lstStyle/>
          <a:p>
            <a:pPr indent="0" marL="0">
              <a:buNone/>
            </a:pPr>
            <a:r>
              <a:rPr lang="en-US" sz="1800" b="1" dirty="0">
                <a:solidFill>
                  <a:schemeClr val="tx1"/>
                </a:solidFill>
              </a:rPr>
              <a:t>Testing</a:t>
            </a:r>
            <a:endParaRPr lang="en-US" sz="1800" dirty="0"/>
          </a:p>
        </p:txBody>
      </p:sp>
      <p:sp>
        <p:nvSpPr>
          <p:cNvPr id="22" name="Stack body Testing"/>
          <p:cNvSpPr txBox="1"/>
          <p:nvPr/>
        </p:nvSpPr>
        <p:spPr>
          <a:xfrm>
            <a:off x="9281160" y="2743200"/>
            <a:ext cx="2240280" cy="777240"/>
          </a:xfrm>
          <a:prstGeom prst="rect">
            <a:avLst/>
          </a:prstGeom>
          <a:noFill/>
          <a:ln/>
        </p:spPr>
        <p:txBody>
          <a:bodyPr wrap="square" lIns="0" tIns="0" rIns="0" bIns="0" rtlCol="0" anchor="t"/>
          <a:lstStyle/>
          <a:p>
            <a:pPr indent="0" marL="0">
              <a:buNone/>
            </a:pPr>
            <a:r>
              <a:rPr lang="en-US" sz="1300" dirty="0">
                <a:solidFill>
                  <a:schemeClr val="tx2"/>
                </a:solidFill>
              </a:rPr>
              <a:t>pytest - 45 tests · ruff lint</a:t>
            </a:r>
            <a:endParaRPr lang="en-US" sz="1300" dirty="0"/>
          </a:p>
        </p:txBody>
      </p:sp>
      <p:sp>
        <p:nvSpPr>
          <p:cNvPr id="23" name="Stack card Containers"/>
          <p:cNvSpPr/>
          <p:nvPr/>
        </p:nvSpPr>
        <p:spPr>
          <a:xfrm>
            <a:off x="548640" y="3840480"/>
            <a:ext cx="2651760" cy="2286000"/>
          </a:xfrm>
          <a:prstGeom prst="roundRect">
            <a:avLst>
              <a:gd name="adj" fmla="val 4800"/>
            </a:avLst>
          </a:prstGeom>
          <a:solidFill>
            <a:schemeClr val="bg2"/>
          </a:solidFill>
          <a:ln/>
        </p:spPr>
      </p:sp>
      <p:sp>
        <p:nvSpPr>
          <p:cNvPr id="24" name="Stack Containers circle"/>
          <p:cNvSpPr/>
          <p:nvPr/>
        </p:nvSpPr>
        <p:spPr>
          <a:xfrm>
            <a:off x="777240" y="4069080"/>
            <a:ext cx="685800" cy="685800"/>
          </a:xfrm>
          <a:prstGeom prst="ellipse">
            <a:avLst/>
          </a:prstGeom>
          <a:solidFill>
            <a:schemeClr val="accent3"/>
          </a:solidFill>
          <a:ln/>
        </p:spPr>
      </p:sp>
      <p:pic>
        <p:nvPicPr>
          <p:cNvPr id="25" name="Stack Containers icon" descr="preencoded.png">    </p:cNvPr>
          <p:cNvPicPr>
            <a:picLocks noChangeAspect="1"/>
          </p:cNvPicPr>
          <p:nvPr/>
        </p:nvPicPr>
        <p:blipFill>
          <a:blip r:embed="rId5"/>
          <a:stretch>
            <a:fillRect/>
          </a:stretch>
        </p:blipFill>
        <p:spPr>
          <a:xfrm>
            <a:off x="928116" y="4219956"/>
            <a:ext cx="384048" cy="384048"/>
          </a:xfrm>
          <a:prstGeom prst="rect">
            <a:avLst/>
          </a:prstGeom>
        </p:spPr>
      </p:pic>
      <p:sp>
        <p:nvSpPr>
          <p:cNvPr id="26" name="Stack head Containers"/>
          <p:cNvSpPr txBox="1"/>
          <p:nvPr/>
        </p:nvSpPr>
        <p:spPr>
          <a:xfrm>
            <a:off x="777240" y="4892040"/>
            <a:ext cx="2194560" cy="365760"/>
          </a:xfrm>
          <a:prstGeom prst="rect">
            <a:avLst/>
          </a:prstGeom>
          <a:noFill/>
          <a:ln/>
        </p:spPr>
        <p:txBody>
          <a:bodyPr wrap="square" lIns="0" tIns="0" rIns="0" bIns="0" rtlCol="0" anchor="t"/>
          <a:lstStyle/>
          <a:p>
            <a:pPr indent="0" marL="0">
              <a:buNone/>
            </a:pPr>
            <a:r>
              <a:rPr lang="en-US" sz="1800" b="1" dirty="0">
                <a:solidFill>
                  <a:schemeClr val="tx1"/>
                </a:solidFill>
              </a:rPr>
              <a:t>Containers</a:t>
            </a:r>
            <a:endParaRPr lang="en-US" sz="1800" dirty="0"/>
          </a:p>
        </p:txBody>
      </p:sp>
      <p:sp>
        <p:nvSpPr>
          <p:cNvPr id="27" name="Stack body Containers"/>
          <p:cNvSpPr txBox="1"/>
          <p:nvPr/>
        </p:nvSpPr>
        <p:spPr>
          <a:xfrm>
            <a:off x="777240" y="5257800"/>
            <a:ext cx="2240280" cy="777240"/>
          </a:xfrm>
          <a:prstGeom prst="rect">
            <a:avLst/>
          </a:prstGeom>
          <a:noFill/>
          <a:ln/>
        </p:spPr>
        <p:txBody>
          <a:bodyPr wrap="square" lIns="0" tIns="0" rIns="0" bIns="0" rtlCol="0" anchor="t"/>
          <a:lstStyle/>
          <a:p>
            <a:pPr indent="0" marL="0">
              <a:buNone/>
            </a:pPr>
            <a:r>
              <a:rPr lang="en-US" sz="1300" dirty="0">
                <a:solidFill>
                  <a:schemeClr val="tx2"/>
                </a:solidFill>
              </a:rPr>
              <a:t>Docker · Compose · Alpine · multi-stage</a:t>
            </a:r>
            <a:endParaRPr lang="en-US" sz="1300" dirty="0"/>
          </a:p>
        </p:txBody>
      </p:sp>
      <p:sp>
        <p:nvSpPr>
          <p:cNvPr id="28" name="Stack card CI/CD"/>
          <p:cNvSpPr/>
          <p:nvPr/>
        </p:nvSpPr>
        <p:spPr>
          <a:xfrm>
            <a:off x="3383280" y="3840480"/>
            <a:ext cx="2651760" cy="2286000"/>
          </a:xfrm>
          <a:prstGeom prst="roundRect">
            <a:avLst>
              <a:gd name="adj" fmla="val 4800"/>
            </a:avLst>
          </a:prstGeom>
          <a:solidFill>
            <a:schemeClr val="bg2"/>
          </a:solidFill>
          <a:ln/>
        </p:spPr>
      </p:sp>
      <p:sp>
        <p:nvSpPr>
          <p:cNvPr id="29" name="Stack CI/CD circle"/>
          <p:cNvSpPr/>
          <p:nvPr/>
        </p:nvSpPr>
        <p:spPr>
          <a:xfrm>
            <a:off x="3611880" y="4069080"/>
            <a:ext cx="685800" cy="685800"/>
          </a:xfrm>
          <a:prstGeom prst="ellipse">
            <a:avLst/>
          </a:prstGeom>
          <a:solidFill>
            <a:schemeClr val="tx2"/>
          </a:solidFill>
          <a:ln/>
        </p:spPr>
      </p:sp>
      <p:pic>
        <p:nvPicPr>
          <p:cNvPr id="30" name="Stack CI/CD icon" descr="preencoded.png">    </p:cNvPr>
          <p:cNvPicPr>
            <a:picLocks noChangeAspect="1"/>
          </p:cNvPicPr>
          <p:nvPr/>
        </p:nvPicPr>
        <p:blipFill>
          <a:blip r:embed="rId6"/>
          <a:stretch>
            <a:fillRect/>
          </a:stretch>
        </p:blipFill>
        <p:spPr>
          <a:xfrm>
            <a:off x="3762756" y="4219956"/>
            <a:ext cx="384048" cy="384048"/>
          </a:xfrm>
          <a:prstGeom prst="rect">
            <a:avLst/>
          </a:prstGeom>
        </p:spPr>
      </p:pic>
      <p:sp>
        <p:nvSpPr>
          <p:cNvPr id="31" name="Stack head CI/CD"/>
          <p:cNvSpPr txBox="1"/>
          <p:nvPr/>
        </p:nvSpPr>
        <p:spPr>
          <a:xfrm>
            <a:off x="3611880" y="4892040"/>
            <a:ext cx="2194560" cy="365760"/>
          </a:xfrm>
          <a:prstGeom prst="rect">
            <a:avLst/>
          </a:prstGeom>
          <a:noFill/>
          <a:ln/>
        </p:spPr>
        <p:txBody>
          <a:bodyPr wrap="square" lIns="0" tIns="0" rIns="0" bIns="0" rtlCol="0" anchor="t"/>
          <a:lstStyle/>
          <a:p>
            <a:pPr indent="0" marL="0">
              <a:buNone/>
            </a:pPr>
            <a:r>
              <a:rPr lang="en-US" sz="1800" b="1" dirty="0">
                <a:solidFill>
                  <a:schemeClr val="tx1"/>
                </a:solidFill>
              </a:rPr>
              <a:t>CI/CD</a:t>
            </a:r>
            <a:endParaRPr lang="en-US" sz="1800" dirty="0"/>
          </a:p>
        </p:txBody>
      </p:sp>
      <p:sp>
        <p:nvSpPr>
          <p:cNvPr id="32" name="Stack body CI/CD"/>
          <p:cNvSpPr txBox="1"/>
          <p:nvPr/>
        </p:nvSpPr>
        <p:spPr>
          <a:xfrm>
            <a:off x="3611880" y="5257800"/>
            <a:ext cx="2240280" cy="777240"/>
          </a:xfrm>
          <a:prstGeom prst="rect">
            <a:avLst/>
          </a:prstGeom>
          <a:noFill/>
          <a:ln/>
        </p:spPr>
        <p:txBody>
          <a:bodyPr wrap="square" lIns="0" tIns="0" rIns="0" bIns="0" rtlCol="0" anchor="t"/>
          <a:lstStyle/>
          <a:p>
            <a:pPr indent="0" marL="0">
              <a:buNone/>
            </a:pPr>
            <a:r>
              <a:rPr lang="en-US" sz="1300" dirty="0">
                <a:solidFill>
                  <a:schemeClr val="tx2"/>
                </a:solidFill>
              </a:rPr>
              <a:t>GitHub Actions · GHCR · Trivy · gitleaks</a:t>
            </a:r>
            <a:endParaRPr lang="en-US" sz="1300" dirty="0"/>
          </a:p>
        </p:txBody>
      </p:sp>
      <p:sp>
        <p:nvSpPr>
          <p:cNvPr id="33" name="Stack card Infrastructure"/>
          <p:cNvSpPr/>
          <p:nvPr/>
        </p:nvSpPr>
        <p:spPr>
          <a:xfrm>
            <a:off x="6217920" y="3840480"/>
            <a:ext cx="2651760" cy="2286000"/>
          </a:xfrm>
          <a:prstGeom prst="roundRect">
            <a:avLst>
              <a:gd name="adj" fmla="val 4800"/>
            </a:avLst>
          </a:prstGeom>
          <a:solidFill>
            <a:schemeClr val="bg2"/>
          </a:solidFill>
          <a:ln/>
        </p:spPr>
      </p:sp>
      <p:sp>
        <p:nvSpPr>
          <p:cNvPr id="34" name="Stack Infrastructure circle"/>
          <p:cNvSpPr/>
          <p:nvPr/>
        </p:nvSpPr>
        <p:spPr>
          <a:xfrm>
            <a:off x="6446520" y="4069080"/>
            <a:ext cx="685800" cy="685800"/>
          </a:xfrm>
          <a:prstGeom prst="ellipse">
            <a:avLst/>
          </a:prstGeom>
          <a:solidFill>
            <a:schemeClr val="accent2"/>
          </a:solidFill>
          <a:ln/>
        </p:spPr>
      </p:sp>
      <p:pic>
        <p:nvPicPr>
          <p:cNvPr id="35" name="Stack Infrastructure icon" descr="preencoded.png">    </p:cNvPr>
          <p:cNvPicPr>
            <a:picLocks noChangeAspect="1"/>
          </p:cNvPicPr>
          <p:nvPr/>
        </p:nvPicPr>
        <p:blipFill>
          <a:blip r:embed="rId7"/>
          <a:stretch>
            <a:fillRect/>
          </a:stretch>
        </p:blipFill>
        <p:spPr>
          <a:xfrm>
            <a:off x="6597396" y="4219956"/>
            <a:ext cx="384048" cy="384048"/>
          </a:xfrm>
          <a:prstGeom prst="rect">
            <a:avLst/>
          </a:prstGeom>
        </p:spPr>
      </p:pic>
      <p:sp>
        <p:nvSpPr>
          <p:cNvPr id="36" name="Stack head Infrastructure"/>
          <p:cNvSpPr txBox="1"/>
          <p:nvPr/>
        </p:nvSpPr>
        <p:spPr>
          <a:xfrm>
            <a:off x="6446520" y="4892040"/>
            <a:ext cx="2194560" cy="365760"/>
          </a:xfrm>
          <a:prstGeom prst="rect">
            <a:avLst/>
          </a:prstGeom>
          <a:noFill/>
          <a:ln/>
        </p:spPr>
        <p:txBody>
          <a:bodyPr wrap="square" lIns="0" tIns="0" rIns="0" bIns="0" rtlCol="0" anchor="t"/>
          <a:lstStyle/>
          <a:p>
            <a:pPr indent="0" marL="0">
              <a:buNone/>
            </a:pPr>
            <a:r>
              <a:rPr lang="en-US" sz="1800" b="1" dirty="0">
                <a:solidFill>
                  <a:schemeClr val="tx1"/>
                </a:solidFill>
              </a:rPr>
              <a:t>Infrastructure</a:t>
            </a:r>
            <a:endParaRPr lang="en-US" sz="1800" dirty="0"/>
          </a:p>
        </p:txBody>
      </p:sp>
      <p:sp>
        <p:nvSpPr>
          <p:cNvPr id="37" name="Stack body Infrastructure"/>
          <p:cNvSpPr txBox="1"/>
          <p:nvPr/>
        </p:nvSpPr>
        <p:spPr>
          <a:xfrm>
            <a:off x="6446520" y="5257800"/>
            <a:ext cx="2240280" cy="777240"/>
          </a:xfrm>
          <a:prstGeom prst="rect">
            <a:avLst/>
          </a:prstGeom>
          <a:noFill/>
          <a:ln/>
        </p:spPr>
        <p:txBody>
          <a:bodyPr wrap="square" lIns="0" tIns="0" rIns="0" bIns="0" rtlCol="0" anchor="t"/>
          <a:lstStyle/>
          <a:p>
            <a:pPr indent="0" marL="0">
              <a:buNone/>
            </a:pPr>
            <a:r>
              <a:rPr lang="en-US" sz="1300" dirty="0">
                <a:solidFill>
                  <a:schemeClr val="tx2"/>
                </a:solidFill>
              </a:rPr>
              <a:t>Terraform · AWS VPC · EKS 1.36</a:t>
            </a:r>
            <a:endParaRPr lang="en-US" sz="1300" dirty="0"/>
          </a:p>
        </p:txBody>
      </p:sp>
      <p:sp>
        <p:nvSpPr>
          <p:cNvPr id="38" name="Stack card Kubernetes &amp; ops"/>
          <p:cNvSpPr/>
          <p:nvPr/>
        </p:nvSpPr>
        <p:spPr>
          <a:xfrm>
            <a:off x="9052560" y="3840480"/>
            <a:ext cx="2651760" cy="2286000"/>
          </a:xfrm>
          <a:prstGeom prst="roundRect">
            <a:avLst>
              <a:gd name="adj" fmla="val 4800"/>
            </a:avLst>
          </a:prstGeom>
          <a:solidFill>
            <a:schemeClr val="bg2"/>
          </a:solidFill>
          <a:ln/>
        </p:spPr>
      </p:sp>
      <p:sp>
        <p:nvSpPr>
          <p:cNvPr id="39" name="Stack Kubernetes &amp; ops circle"/>
          <p:cNvSpPr/>
          <p:nvPr/>
        </p:nvSpPr>
        <p:spPr>
          <a:xfrm>
            <a:off x="9281160" y="4069080"/>
            <a:ext cx="685800" cy="685800"/>
          </a:xfrm>
          <a:prstGeom prst="ellipse">
            <a:avLst/>
          </a:prstGeom>
          <a:solidFill>
            <a:schemeClr val="accent1"/>
          </a:solidFill>
          <a:ln/>
        </p:spPr>
      </p:sp>
      <p:pic>
        <p:nvPicPr>
          <p:cNvPr id="40" name="Stack Kubernetes &amp; ops icon" descr="preencoded.png">    </p:cNvPr>
          <p:cNvPicPr>
            <a:picLocks noChangeAspect="1"/>
          </p:cNvPicPr>
          <p:nvPr/>
        </p:nvPicPr>
        <p:blipFill>
          <a:blip r:embed="rId8"/>
          <a:stretch>
            <a:fillRect/>
          </a:stretch>
        </p:blipFill>
        <p:spPr>
          <a:xfrm>
            <a:off x="9432036" y="4219956"/>
            <a:ext cx="384048" cy="384048"/>
          </a:xfrm>
          <a:prstGeom prst="rect">
            <a:avLst/>
          </a:prstGeom>
        </p:spPr>
      </p:pic>
      <p:sp>
        <p:nvSpPr>
          <p:cNvPr id="41" name="Stack head Kubernetes &amp;amp; ops"/>
          <p:cNvSpPr txBox="1"/>
          <p:nvPr/>
        </p:nvSpPr>
        <p:spPr>
          <a:xfrm>
            <a:off x="9281160" y="4892040"/>
            <a:ext cx="2194560" cy="365760"/>
          </a:xfrm>
          <a:prstGeom prst="rect">
            <a:avLst/>
          </a:prstGeom>
          <a:noFill/>
          <a:ln/>
        </p:spPr>
        <p:txBody>
          <a:bodyPr wrap="square" lIns="0" tIns="0" rIns="0" bIns="0" rtlCol="0" anchor="t"/>
          <a:lstStyle/>
          <a:p>
            <a:pPr indent="0" marL="0">
              <a:buNone/>
            </a:pPr>
            <a:r>
              <a:rPr lang="en-US" sz="1800" b="1" dirty="0">
                <a:solidFill>
                  <a:schemeClr val="tx1"/>
                </a:solidFill>
              </a:rPr>
              <a:t>Kubernetes &amp; ops</a:t>
            </a:r>
            <a:endParaRPr lang="en-US" sz="1800" dirty="0"/>
          </a:p>
        </p:txBody>
      </p:sp>
      <p:sp>
        <p:nvSpPr>
          <p:cNvPr id="42" name="Stack body Kubernetes &amp;amp; ops"/>
          <p:cNvSpPr txBox="1"/>
          <p:nvPr/>
        </p:nvSpPr>
        <p:spPr>
          <a:xfrm>
            <a:off x="9281160" y="5257800"/>
            <a:ext cx="2240280" cy="777240"/>
          </a:xfrm>
          <a:prstGeom prst="rect">
            <a:avLst/>
          </a:prstGeom>
          <a:noFill/>
          <a:ln/>
        </p:spPr>
        <p:txBody>
          <a:bodyPr wrap="square" lIns="0" tIns="0" rIns="0" bIns="0" rtlCol="0" anchor="t"/>
          <a:lstStyle/>
          <a:p>
            <a:pPr indent="0" marL="0">
              <a:buNone/>
            </a:pPr>
            <a:r>
              <a:rPr lang="en-US" sz="1300" dirty="0">
                <a:solidFill>
                  <a:schemeClr val="tx2"/>
                </a:solidFill>
              </a:rPr>
              <a:t>Helm · Ingress · HPA · Argo CD · Prometheus · Grafana</a:t>
            </a:r>
            <a:endParaRPr lang="en-US" sz="13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Architecture</a:t>
            </a:r>
            <a:endParaRPr lang="en-US" sz="3600" dirty="0"/>
          </a:p>
        </p:txBody>
      </p:sp>
      <p:sp>
        <p:nvSpPr>
          <p:cNvPr id="3" name="AWS region"/>
          <p:cNvSpPr/>
          <p:nvPr/>
        </p:nvSpPr>
        <p:spPr>
          <a:xfrm>
            <a:off x="2331720" y="1234440"/>
            <a:ext cx="9326880" cy="5029200"/>
          </a:xfrm>
          <a:prstGeom prst="roundRect">
            <a:avLst>
              <a:gd name="adj" fmla="val 2727"/>
            </a:avLst>
          </a:prstGeom>
          <a:solidFill>
            <a:schemeClr val="bg2"/>
          </a:solidFill>
          <a:ln/>
        </p:spPr>
      </p:sp>
      <p:sp>
        <p:nvSpPr>
          <p:cNvPr id="4" name="Region label"/>
          <p:cNvSpPr txBox="1"/>
          <p:nvPr/>
        </p:nvSpPr>
        <p:spPr>
          <a:xfrm>
            <a:off x="2560320" y="1325880"/>
            <a:ext cx="8686800" cy="320040"/>
          </a:xfrm>
          <a:prstGeom prst="rect">
            <a:avLst/>
          </a:prstGeom>
          <a:noFill/>
          <a:ln/>
        </p:spPr>
        <p:txBody>
          <a:bodyPr wrap="square" lIns="0" tIns="0" rIns="0" bIns="0" rtlCol="0" anchor="t"/>
          <a:lstStyle/>
          <a:p>
            <a:pPr indent="0" marL="0">
              <a:buNone/>
            </a:pPr>
            <a:r>
              <a:rPr lang="en-US" sz="1200" b="1" dirty="0">
                <a:solidFill>
                  <a:schemeClr val="accent1"/>
                </a:solidFill>
              </a:rPr>
              <a:t>AWS ap-south-1 · VPC 10.20.0.0/16 · EKS 1.36 (2 × m7i-flex.large)</a:t>
            </a:r>
            <a:endParaRPr lang="en-US" sz="1200" dirty="0"/>
          </a:p>
        </p:txBody>
      </p:sp>
      <p:sp>
        <p:nvSpPr>
          <p:cNvPr id="5" name="Browser"/>
          <p:cNvSpPr/>
          <p:nvPr/>
        </p:nvSpPr>
        <p:spPr>
          <a:xfrm>
            <a:off x="548640" y="3246120"/>
            <a:ext cx="1554480" cy="822960"/>
          </a:xfrm>
          <a:prstGeom prst="roundRect">
            <a:avLst>
              <a:gd name="adj" fmla="val 11111"/>
            </a:avLst>
          </a:prstGeom>
          <a:solidFill>
            <a:schemeClr val="tx2"/>
          </a:solidFill>
          <a:ln/>
        </p:spPr>
      </p:sp>
      <p:sp>
        <p:nvSpPr>
          <p:cNvPr id="6" name="Browser label"/>
          <p:cNvSpPr txBox="1"/>
          <p:nvPr/>
        </p:nvSpPr>
        <p:spPr>
          <a:xfrm>
            <a:off x="548640" y="3246120"/>
            <a:ext cx="1554480" cy="822960"/>
          </a:xfrm>
          <a:prstGeom prst="rect">
            <a:avLst/>
          </a:prstGeom>
          <a:noFill/>
          <a:ln/>
        </p:spPr>
        <p:txBody>
          <a:bodyPr wrap="square" lIns="508" tIns="508" rIns="508" bIns="508" rtlCol="0" anchor="ctr"/>
          <a:lstStyle/>
          <a:p>
            <a:pPr algn="ctr" indent="0" marL="0">
              <a:buNone/>
            </a:pPr>
            <a:r>
              <a:rPr lang="en-US" sz="1400" b="1" dirty="0">
                <a:solidFill>
                  <a:schemeClr val="bg1"/>
                </a:solidFill>
              </a:rPr>
              <a:t>Browser</a:t>
            </a:r>
            <a:endParaRPr lang="en-US" sz="1400" dirty="0"/>
          </a:p>
          <a:p>
            <a:pPr algn="ctr" indent="0" marL="0">
              <a:buNone/>
            </a:pPr>
            <a:r>
              <a:rPr lang="en-US" sz="1100" dirty="0">
                <a:solidFill>
                  <a:schemeClr val="bg1"/>
                </a:solidFill>
              </a:rPr>
              <a:t>user</a:t>
            </a:r>
            <a:endParaRPr lang="en-US" sz="1400" dirty="0"/>
          </a:p>
        </p:txBody>
      </p:sp>
      <p:sp>
        <p:nvSpPr>
          <p:cNvPr id="7" name="Load balancer"/>
          <p:cNvSpPr/>
          <p:nvPr/>
        </p:nvSpPr>
        <p:spPr>
          <a:xfrm>
            <a:off x="2606040" y="3246120"/>
            <a:ext cx="1783080" cy="822960"/>
          </a:xfrm>
          <a:prstGeom prst="roundRect">
            <a:avLst>
              <a:gd name="adj" fmla="val 11111"/>
            </a:avLst>
          </a:prstGeom>
          <a:solidFill>
            <a:schemeClr val="accent2"/>
          </a:solidFill>
          <a:ln/>
        </p:spPr>
      </p:sp>
      <p:sp>
        <p:nvSpPr>
          <p:cNvPr id="8" name="Load balancer label"/>
          <p:cNvSpPr txBox="1"/>
          <p:nvPr/>
        </p:nvSpPr>
        <p:spPr>
          <a:xfrm>
            <a:off x="2606040" y="3246120"/>
            <a:ext cx="1783080" cy="822960"/>
          </a:xfrm>
          <a:prstGeom prst="rect">
            <a:avLst/>
          </a:prstGeom>
          <a:noFill/>
          <a:ln/>
        </p:spPr>
        <p:txBody>
          <a:bodyPr wrap="square" lIns="508" tIns="508" rIns="508" bIns="508" rtlCol="0" anchor="ctr"/>
          <a:lstStyle/>
          <a:p>
            <a:pPr algn="ctr" indent="0" marL="0">
              <a:buNone/>
            </a:pPr>
            <a:r>
              <a:rPr lang="en-US" sz="1400" b="1" dirty="0">
                <a:solidFill>
                  <a:schemeClr val="bg1"/>
                </a:solidFill>
              </a:rPr>
              <a:t>AWS load balancer</a:t>
            </a:r>
            <a:endParaRPr lang="en-US" sz="1400" dirty="0"/>
          </a:p>
          <a:p>
            <a:pPr algn="ctr" indent="0" marL="0">
              <a:buNone/>
            </a:pPr>
            <a:r>
              <a:rPr lang="en-US" sz="1100" dirty="0">
                <a:solidFill>
                  <a:schemeClr val="bg1"/>
                </a:solidFill>
              </a:rPr>
              <a:t>public subnets</a:t>
            </a:r>
            <a:endParaRPr lang="en-US" sz="1400" dirty="0"/>
          </a:p>
        </p:txBody>
      </p:sp>
      <p:sp>
        <p:nvSpPr>
          <p:cNvPr id="9" name="Ingress"/>
          <p:cNvSpPr/>
          <p:nvPr/>
        </p:nvSpPr>
        <p:spPr>
          <a:xfrm>
            <a:off x="4754880" y="3246120"/>
            <a:ext cx="1691640" cy="822960"/>
          </a:xfrm>
          <a:prstGeom prst="roundRect">
            <a:avLst>
              <a:gd name="adj" fmla="val 11111"/>
            </a:avLst>
          </a:prstGeom>
          <a:solidFill>
            <a:schemeClr val="accent6"/>
          </a:solidFill>
          <a:ln/>
        </p:spPr>
      </p:sp>
      <p:sp>
        <p:nvSpPr>
          <p:cNvPr id="10" name="Ingress label"/>
          <p:cNvSpPr txBox="1"/>
          <p:nvPr/>
        </p:nvSpPr>
        <p:spPr>
          <a:xfrm>
            <a:off x="4754880" y="3246120"/>
            <a:ext cx="1691640" cy="822960"/>
          </a:xfrm>
          <a:prstGeom prst="rect">
            <a:avLst/>
          </a:prstGeom>
          <a:noFill/>
          <a:ln/>
        </p:spPr>
        <p:txBody>
          <a:bodyPr wrap="square" lIns="508" tIns="508" rIns="508" bIns="508" rtlCol="0" anchor="ctr"/>
          <a:lstStyle/>
          <a:p>
            <a:pPr algn="ctr" indent="0" marL="0">
              <a:buNone/>
            </a:pPr>
            <a:r>
              <a:rPr lang="en-US" sz="1400" b="1" dirty="0">
                <a:solidFill>
                  <a:schemeClr val="bg1"/>
                </a:solidFill>
              </a:rPr>
              <a:t>ingress-nginx</a:t>
            </a:r>
            <a:endParaRPr lang="en-US" sz="1400" dirty="0"/>
          </a:p>
          <a:p>
            <a:pPr algn="ctr" indent="0" marL="0">
              <a:buNone/>
            </a:pPr>
            <a:r>
              <a:rPr lang="en-US" sz="1100" dirty="0">
                <a:solidFill>
                  <a:schemeClr val="bg1"/>
                </a:solidFill>
              </a:rPr>
              <a:t>Ingress rules</a:t>
            </a:r>
            <a:endParaRPr lang="en-US" sz="1400" dirty="0"/>
          </a:p>
        </p:txBody>
      </p:sp>
      <p:sp>
        <p:nvSpPr>
          <p:cNvPr id="11" name="Frontend"/>
          <p:cNvSpPr/>
          <p:nvPr/>
        </p:nvSpPr>
        <p:spPr>
          <a:xfrm>
            <a:off x="6903720" y="2057400"/>
            <a:ext cx="1828800" cy="822960"/>
          </a:xfrm>
          <a:prstGeom prst="roundRect">
            <a:avLst>
              <a:gd name="adj" fmla="val 11111"/>
            </a:avLst>
          </a:prstGeom>
          <a:solidFill>
            <a:schemeClr val="accent3"/>
          </a:solidFill>
          <a:ln/>
        </p:spPr>
      </p:sp>
      <p:sp>
        <p:nvSpPr>
          <p:cNvPr id="12" name="Frontend label"/>
          <p:cNvSpPr txBox="1"/>
          <p:nvPr/>
        </p:nvSpPr>
        <p:spPr>
          <a:xfrm>
            <a:off x="6903720" y="2057400"/>
            <a:ext cx="1828800" cy="822960"/>
          </a:xfrm>
          <a:prstGeom prst="rect">
            <a:avLst/>
          </a:prstGeom>
          <a:noFill/>
          <a:ln/>
        </p:spPr>
        <p:txBody>
          <a:bodyPr wrap="square" lIns="508" tIns="508" rIns="508" bIns="508" rtlCol="0" anchor="ctr"/>
          <a:lstStyle/>
          <a:p>
            <a:pPr algn="ctr" indent="0" marL="0">
              <a:buNone/>
            </a:pPr>
            <a:r>
              <a:rPr lang="en-US" sz="1400" b="1" dirty="0">
                <a:solidFill>
                  <a:schemeClr val="bg1"/>
                </a:solidFill>
              </a:rPr>
              <a:t>Frontend ×2</a:t>
            </a:r>
            <a:endParaRPr lang="en-US" sz="1400" dirty="0"/>
          </a:p>
          <a:p>
            <a:pPr algn="ctr" indent="0" marL="0">
              <a:buNone/>
            </a:pPr>
            <a:r>
              <a:rPr lang="en-US" sz="1100" dirty="0">
                <a:solidFill>
                  <a:schemeClr val="bg1"/>
                </a:solidFill>
              </a:rPr>
              <a:t>React on Nginx</a:t>
            </a:r>
            <a:endParaRPr lang="en-US" sz="1400" dirty="0"/>
          </a:p>
        </p:txBody>
      </p:sp>
      <p:sp>
        <p:nvSpPr>
          <p:cNvPr id="13" name="Backend"/>
          <p:cNvSpPr/>
          <p:nvPr/>
        </p:nvSpPr>
        <p:spPr>
          <a:xfrm>
            <a:off x="6903720" y="4434840"/>
            <a:ext cx="1828800" cy="822960"/>
          </a:xfrm>
          <a:prstGeom prst="roundRect">
            <a:avLst>
              <a:gd name="adj" fmla="val 11111"/>
            </a:avLst>
          </a:prstGeom>
          <a:solidFill>
            <a:schemeClr val="accent1"/>
          </a:solidFill>
          <a:ln/>
        </p:spPr>
      </p:sp>
      <p:sp>
        <p:nvSpPr>
          <p:cNvPr id="14" name="Backend label"/>
          <p:cNvSpPr txBox="1"/>
          <p:nvPr/>
        </p:nvSpPr>
        <p:spPr>
          <a:xfrm>
            <a:off x="6903720" y="4434840"/>
            <a:ext cx="1828800" cy="822960"/>
          </a:xfrm>
          <a:prstGeom prst="rect">
            <a:avLst/>
          </a:prstGeom>
          <a:noFill/>
          <a:ln/>
        </p:spPr>
        <p:txBody>
          <a:bodyPr wrap="square" lIns="508" tIns="508" rIns="508" bIns="508" rtlCol="0" anchor="ctr"/>
          <a:lstStyle/>
          <a:p>
            <a:pPr algn="ctr" indent="0" marL="0">
              <a:buNone/>
            </a:pPr>
            <a:r>
              <a:rPr lang="en-US" sz="1400" b="1" dirty="0">
                <a:solidFill>
                  <a:schemeClr val="bg1"/>
                </a:solidFill>
              </a:rPr>
              <a:t>Backend ×2-6</a:t>
            </a:r>
            <a:endParaRPr lang="en-US" sz="1400" dirty="0"/>
          </a:p>
          <a:p>
            <a:pPr algn="ctr" indent="0" marL="0">
              <a:buNone/>
            </a:pPr>
            <a:r>
              <a:rPr lang="en-US" sz="1100" dirty="0">
                <a:solidFill>
                  <a:schemeClr val="bg1"/>
                </a:solidFill>
              </a:rPr>
              <a:t>FastAPI · HPA</a:t>
            </a:r>
            <a:endParaRPr lang="en-US" sz="1400" dirty="0"/>
          </a:p>
        </p:txBody>
      </p:sp>
      <p:sp>
        <p:nvSpPr>
          <p:cNvPr id="15" name="Postgres"/>
          <p:cNvSpPr/>
          <p:nvPr/>
        </p:nvSpPr>
        <p:spPr>
          <a:xfrm>
            <a:off x="9464040" y="4434840"/>
            <a:ext cx="1874520" cy="822960"/>
          </a:xfrm>
          <a:prstGeom prst="roundRect">
            <a:avLst>
              <a:gd name="adj" fmla="val 11111"/>
            </a:avLst>
          </a:prstGeom>
          <a:solidFill>
            <a:schemeClr val="tx2"/>
          </a:solidFill>
          <a:ln/>
        </p:spPr>
      </p:sp>
      <p:sp>
        <p:nvSpPr>
          <p:cNvPr id="16" name="Postgres label"/>
          <p:cNvSpPr txBox="1"/>
          <p:nvPr/>
        </p:nvSpPr>
        <p:spPr>
          <a:xfrm>
            <a:off x="9464040" y="4434840"/>
            <a:ext cx="1874520" cy="822960"/>
          </a:xfrm>
          <a:prstGeom prst="rect">
            <a:avLst/>
          </a:prstGeom>
          <a:noFill/>
          <a:ln/>
        </p:spPr>
        <p:txBody>
          <a:bodyPr wrap="square" lIns="508" tIns="508" rIns="508" bIns="508" rtlCol="0" anchor="ctr"/>
          <a:lstStyle/>
          <a:p>
            <a:pPr algn="ctr" indent="0" marL="0">
              <a:buNone/>
            </a:pPr>
            <a:r>
              <a:rPr lang="en-US" sz="1400" b="1" dirty="0">
                <a:solidFill>
                  <a:schemeClr val="bg1"/>
                </a:solidFill>
              </a:rPr>
              <a:t>PostgreSQL</a:t>
            </a:r>
            <a:endParaRPr lang="en-US" sz="1400" dirty="0"/>
          </a:p>
          <a:p>
            <a:pPr algn="ctr" indent="0" marL="0">
              <a:buNone/>
            </a:pPr>
            <a:r>
              <a:rPr lang="en-US" sz="1100" dirty="0">
                <a:solidFill>
                  <a:schemeClr val="bg1"/>
                </a:solidFill>
              </a:rPr>
              <a:t>StatefulSet + PVC</a:t>
            </a:r>
            <a:endParaRPr lang="en-US" sz="1400" dirty="0"/>
          </a:p>
        </p:txBody>
      </p:sp>
      <p:sp>
        <p:nvSpPr>
          <p:cNvPr id="17" name="Monitoring"/>
          <p:cNvSpPr/>
          <p:nvPr/>
        </p:nvSpPr>
        <p:spPr>
          <a:xfrm>
            <a:off x="9464040" y="2057400"/>
            <a:ext cx="1874520" cy="822960"/>
          </a:xfrm>
          <a:prstGeom prst="roundRect">
            <a:avLst>
              <a:gd name="adj" fmla="val 11111"/>
            </a:avLst>
          </a:prstGeom>
          <a:solidFill>
            <a:schemeClr val="accent4"/>
          </a:solidFill>
          <a:ln/>
        </p:spPr>
      </p:sp>
      <p:sp>
        <p:nvSpPr>
          <p:cNvPr id="18" name="Monitoring label"/>
          <p:cNvSpPr txBox="1"/>
          <p:nvPr/>
        </p:nvSpPr>
        <p:spPr>
          <a:xfrm>
            <a:off x="9464040" y="2057400"/>
            <a:ext cx="1874520" cy="822960"/>
          </a:xfrm>
          <a:prstGeom prst="rect">
            <a:avLst/>
          </a:prstGeom>
          <a:noFill/>
          <a:ln/>
        </p:spPr>
        <p:txBody>
          <a:bodyPr wrap="square" lIns="508" tIns="508" rIns="508" bIns="508" rtlCol="0" anchor="ctr"/>
          <a:lstStyle/>
          <a:p>
            <a:pPr algn="ctr" indent="0" marL="0">
              <a:buNone/>
            </a:pPr>
            <a:r>
              <a:rPr lang="en-US" sz="1400" b="1" dirty="0">
                <a:solidFill>
                  <a:schemeClr val="bg1"/>
                </a:solidFill>
              </a:rPr>
              <a:t>Prometheus + Grafana</a:t>
            </a:r>
            <a:endParaRPr lang="en-US" sz="1400" dirty="0"/>
          </a:p>
          <a:p>
            <a:pPr algn="ctr" indent="0" marL="0">
              <a:buNone/>
            </a:pPr>
            <a:r>
              <a:rPr lang="en-US" sz="1100" dirty="0">
                <a:solidFill>
                  <a:schemeClr val="bg1"/>
                </a:solidFill>
              </a:rPr>
              <a:t>monitoring</a:t>
            </a:r>
            <a:endParaRPr lang="en-US" sz="1400" dirty="0"/>
          </a:p>
        </p:txBody>
      </p:sp>
      <p:sp>
        <p:nvSpPr>
          <p:cNvPr id="19" name="Argo CD"/>
          <p:cNvSpPr/>
          <p:nvPr/>
        </p:nvSpPr>
        <p:spPr>
          <a:xfrm>
            <a:off x="4754880" y="5257800"/>
            <a:ext cx="1691640" cy="777240"/>
          </a:xfrm>
          <a:prstGeom prst="roundRect">
            <a:avLst>
              <a:gd name="adj" fmla="val 11765"/>
            </a:avLst>
          </a:prstGeom>
          <a:solidFill>
            <a:schemeClr val="accent5"/>
          </a:solidFill>
          <a:ln/>
        </p:spPr>
      </p:sp>
      <p:sp>
        <p:nvSpPr>
          <p:cNvPr id="20" name="Argo CD label"/>
          <p:cNvSpPr txBox="1"/>
          <p:nvPr/>
        </p:nvSpPr>
        <p:spPr>
          <a:xfrm>
            <a:off x="4754880" y="5257800"/>
            <a:ext cx="1691640" cy="777240"/>
          </a:xfrm>
          <a:prstGeom prst="rect">
            <a:avLst/>
          </a:prstGeom>
          <a:noFill/>
          <a:ln/>
        </p:spPr>
        <p:txBody>
          <a:bodyPr wrap="square" lIns="508" tIns="508" rIns="508" bIns="508" rtlCol="0" anchor="ctr"/>
          <a:lstStyle/>
          <a:p>
            <a:pPr algn="ctr" indent="0" marL="0">
              <a:buNone/>
            </a:pPr>
            <a:r>
              <a:rPr lang="en-US" sz="1400" b="1" dirty="0">
                <a:solidFill>
                  <a:schemeClr val="bg1"/>
                </a:solidFill>
              </a:rPr>
              <a:t>Argo CD</a:t>
            </a:r>
            <a:endParaRPr lang="en-US" sz="1400" dirty="0"/>
          </a:p>
          <a:p>
            <a:pPr algn="ctr" indent="0" marL="0">
              <a:buNone/>
            </a:pPr>
            <a:r>
              <a:rPr lang="en-US" sz="1100" dirty="0">
                <a:solidFill>
                  <a:schemeClr val="bg1"/>
                </a:solidFill>
              </a:rPr>
              <a:t>GitOps sync</a:t>
            </a:r>
            <a:endParaRPr lang="en-US" sz="1400" dirty="0"/>
          </a:p>
        </p:txBody>
      </p:sp>
      <p:sp>
        <p:nvSpPr>
          <p:cNvPr id="21" name="Browser to LB"/>
          <p:cNvSpPr/>
          <p:nvPr/>
        </p:nvSpPr>
        <p:spPr>
          <a:xfrm>
            <a:off x="2103120" y="3657600"/>
            <a:ext cx="502920" cy="914"/>
          </a:xfrm>
          <a:prstGeom prst="line">
            <a:avLst/>
          </a:prstGeom>
          <a:noFill/>
          <a:ln w="22225">
            <a:solidFill>
              <a:schemeClr val="accent6"/>
            </a:solidFill>
            <a:prstDash val="solid"/>
            <a:tailEnd type="triangle"/>
          </a:ln>
        </p:spPr>
      </p:sp>
      <p:sp>
        <p:nvSpPr>
          <p:cNvPr id="22" name="LB to ingress"/>
          <p:cNvSpPr/>
          <p:nvPr/>
        </p:nvSpPr>
        <p:spPr>
          <a:xfrm>
            <a:off x="4389120" y="3657600"/>
            <a:ext cx="365760" cy="914"/>
          </a:xfrm>
          <a:prstGeom prst="line">
            <a:avLst/>
          </a:prstGeom>
          <a:noFill/>
          <a:ln w="22225">
            <a:solidFill>
              <a:schemeClr val="accent6"/>
            </a:solidFill>
            <a:prstDash val="solid"/>
            <a:tailEnd type="triangle"/>
          </a:ln>
        </p:spPr>
      </p:sp>
      <p:sp>
        <p:nvSpPr>
          <p:cNvPr id="23" name="Ingress to frontend"/>
          <p:cNvSpPr/>
          <p:nvPr/>
        </p:nvSpPr>
        <p:spPr>
          <a:xfrm flipV="1">
            <a:off x="6446520" y="2651760"/>
            <a:ext cx="457200" cy="822960"/>
          </a:xfrm>
          <a:prstGeom prst="line">
            <a:avLst/>
          </a:prstGeom>
          <a:noFill/>
          <a:ln w="22225">
            <a:solidFill>
              <a:schemeClr val="accent6"/>
            </a:solidFill>
            <a:prstDash val="solid"/>
            <a:tailEnd type="triangle"/>
          </a:ln>
        </p:spPr>
      </p:sp>
      <p:sp>
        <p:nvSpPr>
          <p:cNvPr id="24" name="Ingress to backend"/>
          <p:cNvSpPr/>
          <p:nvPr/>
        </p:nvSpPr>
        <p:spPr>
          <a:xfrm>
            <a:off x="6446520" y="3840480"/>
            <a:ext cx="457200" cy="822960"/>
          </a:xfrm>
          <a:prstGeom prst="line">
            <a:avLst/>
          </a:prstGeom>
          <a:noFill/>
          <a:ln w="22225">
            <a:solidFill>
              <a:schemeClr val="accent6"/>
            </a:solidFill>
            <a:prstDash val="solid"/>
            <a:tailEnd type="triangle"/>
          </a:ln>
        </p:spPr>
      </p:sp>
      <p:sp>
        <p:nvSpPr>
          <p:cNvPr id="25" name="Route slash"/>
          <p:cNvSpPr txBox="1"/>
          <p:nvPr/>
        </p:nvSpPr>
        <p:spPr>
          <a:xfrm>
            <a:off x="6510528" y="2743200"/>
            <a:ext cx="365760" cy="274320"/>
          </a:xfrm>
          <a:prstGeom prst="rect">
            <a:avLst/>
          </a:prstGeom>
          <a:noFill/>
          <a:ln/>
        </p:spPr>
        <p:txBody>
          <a:bodyPr wrap="square" lIns="0" tIns="0" rIns="0" bIns="0" rtlCol="0" anchor="t"/>
          <a:lstStyle/>
          <a:p>
            <a:pPr indent="0" marL="0">
              <a:buNone/>
            </a:pPr>
            <a:r>
              <a:rPr lang="en-US" sz="1200" b="1" dirty="0">
                <a:solidFill>
                  <a:schemeClr val="accent3"/>
                </a:solidFill>
              </a:rPr>
              <a:t>/</a:t>
            </a:r>
            <a:endParaRPr lang="en-US" sz="1200" dirty="0"/>
          </a:p>
        </p:txBody>
      </p:sp>
      <p:sp>
        <p:nvSpPr>
          <p:cNvPr id="26" name="Route api"/>
          <p:cNvSpPr txBox="1"/>
          <p:nvPr/>
        </p:nvSpPr>
        <p:spPr>
          <a:xfrm>
            <a:off x="6446520" y="4343400"/>
            <a:ext cx="457200" cy="274320"/>
          </a:xfrm>
          <a:prstGeom prst="rect">
            <a:avLst/>
          </a:prstGeom>
          <a:noFill/>
          <a:ln/>
        </p:spPr>
        <p:txBody>
          <a:bodyPr wrap="square" lIns="0" tIns="0" rIns="0" bIns="0" rtlCol="0" anchor="t"/>
          <a:lstStyle/>
          <a:p>
            <a:pPr indent="0" marL="0">
              <a:buNone/>
            </a:pPr>
            <a:r>
              <a:rPr lang="en-US" sz="1200" b="1" dirty="0">
                <a:solidFill>
                  <a:schemeClr val="accent1"/>
                </a:solidFill>
              </a:rPr>
              <a:t>/api</a:t>
            </a:r>
            <a:endParaRPr lang="en-US" sz="1200" dirty="0"/>
          </a:p>
        </p:txBody>
      </p:sp>
      <p:sp>
        <p:nvSpPr>
          <p:cNvPr id="27" name="Backend to postgres"/>
          <p:cNvSpPr/>
          <p:nvPr/>
        </p:nvSpPr>
        <p:spPr>
          <a:xfrm>
            <a:off x="8732520" y="4846320"/>
            <a:ext cx="731520" cy="914"/>
          </a:xfrm>
          <a:prstGeom prst="line">
            <a:avLst/>
          </a:prstGeom>
          <a:noFill/>
          <a:ln w="22225">
            <a:solidFill>
              <a:schemeClr val="accent6"/>
            </a:solidFill>
            <a:prstDash val="solid"/>
            <a:tailEnd type="triangle"/>
          </a:ln>
        </p:spPr>
      </p:sp>
      <p:sp>
        <p:nvSpPr>
          <p:cNvPr id="28" name="Prometheus scrapes backend"/>
          <p:cNvSpPr/>
          <p:nvPr/>
        </p:nvSpPr>
        <p:spPr>
          <a:xfrm flipH="1">
            <a:off x="8732520" y="2880360"/>
            <a:ext cx="1691640" cy="1645920"/>
          </a:xfrm>
          <a:prstGeom prst="line">
            <a:avLst/>
          </a:prstGeom>
          <a:noFill/>
          <a:ln w="22225">
            <a:solidFill>
              <a:schemeClr val="accent4"/>
            </a:solidFill>
            <a:prstDash val="dash"/>
            <a:tailEnd type="triangle"/>
          </a:ln>
        </p:spPr>
      </p:sp>
      <p:sp>
        <p:nvSpPr>
          <p:cNvPr id="29" name="Argo CD syncs app"/>
          <p:cNvSpPr/>
          <p:nvPr/>
        </p:nvSpPr>
        <p:spPr>
          <a:xfrm flipV="1">
            <a:off x="6446520" y="5120640"/>
            <a:ext cx="457200" cy="502920"/>
          </a:xfrm>
          <a:prstGeom prst="line">
            <a:avLst/>
          </a:prstGeom>
          <a:noFill/>
          <a:ln w="22225">
            <a:solidFill>
              <a:schemeClr val="accent5"/>
            </a:solidFill>
            <a:prstDash val="dash"/>
            <a:tailEnd type="triangle"/>
          </a:ln>
        </p:spPr>
      </p:sp>
      <p:sp>
        <p:nvSpPr>
          <p:cNvPr id="30" name="Git repo"/>
          <p:cNvSpPr/>
          <p:nvPr/>
        </p:nvSpPr>
        <p:spPr>
          <a:xfrm>
            <a:off x="548640" y="5257800"/>
            <a:ext cx="1554480" cy="777240"/>
          </a:xfrm>
          <a:prstGeom prst="roundRect">
            <a:avLst>
              <a:gd name="adj" fmla="val 11765"/>
            </a:avLst>
          </a:prstGeom>
          <a:solidFill>
            <a:schemeClr val="tx2"/>
          </a:solidFill>
          <a:ln/>
        </p:spPr>
      </p:sp>
      <p:sp>
        <p:nvSpPr>
          <p:cNvPr id="31" name="Git repo label"/>
          <p:cNvSpPr txBox="1"/>
          <p:nvPr/>
        </p:nvSpPr>
        <p:spPr>
          <a:xfrm>
            <a:off x="548640" y="5257800"/>
            <a:ext cx="1554480" cy="777240"/>
          </a:xfrm>
          <a:prstGeom prst="rect">
            <a:avLst/>
          </a:prstGeom>
          <a:noFill/>
          <a:ln/>
        </p:spPr>
        <p:txBody>
          <a:bodyPr wrap="square" lIns="508" tIns="508" rIns="508" bIns="508" rtlCol="0" anchor="ctr"/>
          <a:lstStyle/>
          <a:p>
            <a:pPr algn="ctr" indent="0" marL="0">
              <a:buNone/>
            </a:pPr>
            <a:r>
              <a:rPr lang="en-US" sz="1400" b="1" dirty="0">
                <a:solidFill>
                  <a:schemeClr val="bg1"/>
                </a:solidFill>
              </a:rPr>
              <a:t>GitHub repo</a:t>
            </a:r>
            <a:endParaRPr lang="en-US" sz="1400" dirty="0"/>
          </a:p>
          <a:p>
            <a:pPr algn="ctr" indent="0" marL="0">
              <a:buNone/>
            </a:pPr>
            <a:r>
              <a:rPr lang="en-US" sz="1100" dirty="0">
                <a:solidFill>
                  <a:schemeClr val="bg1"/>
                </a:solidFill>
              </a:rPr>
              <a:t>Helm chart + values</a:t>
            </a:r>
            <a:endParaRPr lang="en-US" sz="1400" dirty="0"/>
          </a:p>
        </p:txBody>
      </p:sp>
      <p:sp>
        <p:nvSpPr>
          <p:cNvPr id="32" name="Argo CD watches Git"/>
          <p:cNvSpPr/>
          <p:nvPr/>
        </p:nvSpPr>
        <p:spPr>
          <a:xfrm>
            <a:off x="2103120" y="5641848"/>
            <a:ext cx="2651760" cy="914"/>
          </a:xfrm>
          <a:prstGeom prst="line">
            <a:avLst/>
          </a:prstGeom>
          <a:noFill/>
          <a:ln w="22225">
            <a:solidFill>
              <a:schemeClr val="accent5"/>
            </a:solidFill>
            <a:prstDash val="dash"/>
            <a:tailEnd type="triangle"/>
          </a:ln>
        </p:spPr>
      </p:sp>
      <p:sp>
        <p:nvSpPr>
          <p:cNvPr id="33" name="Watches label"/>
          <p:cNvSpPr txBox="1"/>
          <p:nvPr/>
        </p:nvSpPr>
        <p:spPr>
          <a:xfrm>
            <a:off x="3017520" y="5349240"/>
            <a:ext cx="914400" cy="274320"/>
          </a:xfrm>
          <a:prstGeom prst="rect">
            <a:avLst/>
          </a:prstGeom>
          <a:noFill/>
          <a:ln/>
        </p:spPr>
        <p:txBody>
          <a:bodyPr wrap="square" lIns="0" tIns="0" rIns="0" bIns="0" rtlCol="0" anchor="t"/>
          <a:lstStyle/>
          <a:p>
            <a:pPr algn="ctr" indent="0" marL="0">
              <a:buNone/>
            </a:pPr>
            <a:r>
              <a:rPr lang="en-US" sz="1100" dirty="0">
                <a:solidFill>
                  <a:schemeClr val="accent5"/>
                </a:solidFill>
              </a:rPr>
              <a:t>watches</a:t>
            </a:r>
            <a:endParaRPr lang="en-US" sz="11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CI/CD flow</a:t>
            </a:r>
            <a:endParaRPr lang="en-US" sz="3600" dirty="0"/>
          </a:p>
        </p:txBody>
      </p:sp>
      <p:sp>
        <p:nvSpPr>
          <p:cNvPr id="3" name="Step 1"/>
          <p:cNvSpPr/>
          <p:nvPr/>
        </p:nvSpPr>
        <p:spPr>
          <a:xfrm>
            <a:off x="548640" y="1325880"/>
            <a:ext cx="1417320" cy="1691640"/>
          </a:xfrm>
          <a:prstGeom prst="roundRect">
            <a:avLst>
              <a:gd name="adj" fmla="val 7742"/>
            </a:avLst>
          </a:prstGeom>
          <a:solidFill>
            <a:schemeClr val="accent1"/>
          </a:solidFill>
          <a:ln/>
        </p:spPr>
      </p:sp>
      <p:sp>
        <p:nvSpPr>
          <p:cNvPr id="4" name="Step num 1"/>
          <p:cNvSpPr txBox="1"/>
          <p:nvPr/>
        </p:nvSpPr>
        <p:spPr>
          <a:xfrm>
            <a:off x="685800" y="1417320"/>
            <a:ext cx="1143000" cy="365760"/>
          </a:xfrm>
          <a:prstGeom prst="rect">
            <a:avLst/>
          </a:prstGeom>
          <a:noFill/>
          <a:ln/>
        </p:spPr>
        <p:txBody>
          <a:bodyPr wrap="square" lIns="0" tIns="0" rIns="0" bIns="0" rtlCol="0" anchor="t"/>
          <a:lstStyle/>
          <a:p>
            <a:pPr indent="0" marL="0">
              <a:buNone/>
            </a:pPr>
            <a:r>
              <a:rPr lang="en-US" sz="1600" b="1" dirty="0">
                <a:solidFill>
                  <a:schemeClr val="bg1"/>
                </a:solidFill>
              </a:rPr>
              <a:t>1</a:t>
            </a:r>
            <a:endParaRPr lang="en-US" sz="1600" dirty="0"/>
          </a:p>
        </p:txBody>
      </p:sp>
      <p:sp>
        <p:nvSpPr>
          <p:cNvPr id="5" name="Step head 1"/>
          <p:cNvSpPr txBox="1"/>
          <p:nvPr/>
        </p:nvSpPr>
        <p:spPr>
          <a:xfrm>
            <a:off x="685800" y="1783080"/>
            <a:ext cx="1188720" cy="411480"/>
          </a:xfrm>
          <a:prstGeom prst="rect">
            <a:avLst/>
          </a:prstGeom>
          <a:noFill/>
          <a:ln/>
        </p:spPr>
        <p:txBody>
          <a:bodyPr wrap="square" lIns="0" tIns="0" rIns="0" bIns="0" rtlCol="0" anchor="t"/>
          <a:lstStyle/>
          <a:p>
            <a:pPr indent="0" marL="0">
              <a:buNone/>
            </a:pPr>
            <a:r>
              <a:rPr lang="en-US" sz="1500" b="1" dirty="0">
                <a:solidFill>
                  <a:schemeClr val="bg1"/>
                </a:solidFill>
              </a:rPr>
              <a:t>git push</a:t>
            </a:r>
            <a:endParaRPr lang="en-US" sz="1500" dirty="0"/>
          </a:p>
        </p:txBody>
      </p:sp>
      <p:sp>
        <p:nvSpPr>
          <p:cNvPr id="6" name="Step sub 1"/>
          <p:cNvSpPr txBox="1"/>
          <p:nvPr/>
        </p:nvSpPr>
        <p:spPr>
          <a:xfrm>
            <a:off x="685800" y="2194560"/>
            <a:ext cx="1188720" cy="777240"/>
          </a:xfrm>
          <a:prstGeom prst="rect">
            <a:avLst/>
          </a:prstGeom>
          <a:noFill/>
          <a:ln/>
        </p:spPr>
        <p:txBody>
          <a:bodyPr wrap="square" lIns="0" tIns="0" rIns="0" bIns="0" rtlCol="0" anchor="t"/>
          <a:lstStyle/>
          <a:p>
            <a:pPr indent="0" marL="0">
              <a:buNone/>
            </a:pPr>
            <a:r>
              <a:rPr lang="en-US" sz="1100" dirty="0">
                <a:solidFill>
                  <a:schemeClr val="bg1"/>
                </a:solidFill>
              </a:rPr>
              <a:t>to main</a:t>
            </a:r>
            <a:endParaRPr lang="en-US" sz="1100" dirty="0"/>
          </a:p>
        </p:txBody>
      </p:sp>
      <p:sp>
        <p:nvSpPr>
          <p:cNvPr id="7" name="Step arrow 1"/>
          <p:cNvSpPr/>
          <p:nvPr/>
        </p:nvSpPr>
        <p:spPr>
          <a:xfrm>
            <a:off x="1965960" y="2167128"/>
            <a:ext cx="182880" cy="914"/>
          </a:xfrm>
          <a:prstGeom prst="line">
            <a:avLst/>
          </a:prstGeom>
          <a:noFill/>
          <a:ln w="22225">
            <a:solidFill>
              <a:schemeClr val="accent6"/>
            </a:solidFill>
            <a:prstDash val="solid"/>
            <a:tailEnd type="triangle"/>
          </a:ln>
        </p:spPr>
      </p:sp>
      <p:sp>
        <p:nvSpPr>
          <p:cNvPr id="8" name="Step 2"/>
          <p:cNvSpPr/>
          <p:nvPr/>
        </p:nvSpPr>
        <p:spPr>
          <a:xfrm>
            <a:off x="2148840" y="1325880"/>
            <a:ext cx="1417320" cy="1691640"/>
          </a:xfrm>
          <a:prstGeom prst="roundRect">
            <a:avLst>
              <a:gd name="adj" fmla="val 7742"/>
            </a:avLst>
          </a:prstGeom>
          <a:solidFill>
            <a:schemeClr val="accent1"/>
          </a:solidFill>
          <a:ln/>
        </p:spPr>
      </p:sp>
      <p:sp>
        <p:nvSpPr>
          <p:cNvPr id="9" name="Step num 2"/>
          <p:cNvSpPr txBox="1"/>
          <p:nvPr/>
        </p:nvSpPr>
        <p:spPr>
          <a:xfrm>
            <a:off x="2286000" y="1417320"/>
            <a:ext cx="1143000" cy="365760"/>
          </a:xfrm>
          <a:prstGeom prst="rect">
            <a:avLst/>
          </a:prstGeom>
          <a:noFill/>
          <a:ln/>
        </p:spPr>
        <p:txBody>
          <a:bodyPr wrap="square" lIns="0" tIns="0" rIns="0" bIns="0" rtlCol="0" anchor="t"/>
          <a:lstStyle/>
          <a:p>
            <a:pPr indent="0" marL="0">
              <a:buNone/>
            </a:pPr>
            <a:r>
              <a:rPr lang="en-US" sz="1600" b="1" dirty="0">
                <a:solidFill>
                  <a:schemeClr val="bg1"/>
                </a:solidFill>
              </a:rPr>
              <a:t>2</a:t>
            </a:r>
            <a:endParaRPr lang="en-US" sz="1600" dirty="0"/>
          </a:p>
        </p:txBody>
      </p:sp>
      <p:sp>
        <p:nvSpPr>
          <p:cNvPr id="10" name="Step head 2"/>
          <p:cNvSpPr txBox="1"/>
          <p:nvPr/>
        </p:nvSpPr>
        <p:spPr>
          <a:xfrm>
            <a:off x="2286000" y="1783080"/>
            <a:ext cx="1188720" cy="411480"/>
          </a:xfrm>
          <a:prstGeom prst="rect">
            <a:avLst/>
          </a:prstGeom>
          <a:noFill/>
          <a:ln/>
        </p:spPr>
        <p:txBody>
          <a:bodyPr wrap="square" lIns="0" tIns="0" rIns="0" bIns="0" rtlCol="0" anchor="t"/>
          <a:lstStyle/>
          <a:p>
            <a:pPr indent="0" marL="0">
              <a:buNone/>
            </a:pPr>
            <a:r>
              <a:rPr lang="en-US" sz="1500" b="1" dirty="0">
                <a:solidFill>
                  <a:schemeClr val="bg1"/>
                </a:solidFill>
              </a:rPr>
              <a:t>Test</a:t>
            </a:r>
            <a:endParaRPr lang="en-US" sz="1500" dirty="0"/>
          </a:p>
        </p:txBody>
      </p:sp>
      <p:sp>
        <p:nvSpPr>
          <p:cNvPr id="11" name="Step sub 2"/>
          <p:cNvSpPr txBox="1"/>
          <p:nvPr/>
        </p:nvSpPr>
        <p:spPr>
          <a:xfrm>
            <a:off x="2286000" y="2194560"/>
            <a:ext cx="1188720" cy="777240"/>
          </a:xfrm>
          <a:prstGeom prst="rect">
            <a:avLst/>
          </a:prstGeom>
          <a:noFill/>
          <a:ln/>
        </p:spPr>
        <p:txBody>
          <a:bodyPr wrap="square" lIns="0" tIns="0" rIns="0" bIns="0" rtlCol="0" anchor="t"/>
          <a:lstStyle/>
          <a:p>
            <a:pPr indent="0" marL="0">
              <a:buNone/>
            </a:pPr>
            <a:r>
              <a:rPr lang="en-US" sz="1100" dirty="0">
                <a:solidFill>
                  <a:schemeClr val="bg1"/>
                </a:solidFill>
              </a:rPr>
              <a:t>ruff · 45 tests · Alembic · React build</a:t>
            </a:r>
            <a:endParaRPr lang="en-US" sz="1100" dirty="0"/>
          </a:p>
        </p:txBody>
      </p:sp>
      <p:sp>
        <p:nvSpPr>
          <p:cNvPr id="12" name="Step arrow 2"/>
          <p:cNvSpPr/>
          <p:nvPr/>
        </p:nvSpPr>
        <p:spPr>
          <a:xfrm>
            <a:off x="3566160" y="2167128"/>
            <a:ext cx="182880" cy="914"/>
          </a:xfrm>
          <a:prstGeom prst="line">
            <a:avLst/>
          </a:prstGeom>
          <a:noFill/>
          <a:ln w="22225">
            <a:solidFill>
              <a:schemeClr val="accent6"/>
            </a:solidFill>
            <a:prstDash val="solid"/>
            <a:tailEnd type="triangle"/>
          </a:ln>
        </p:spPr>
      </p:sp>
      <p:sp>
        <p:nvSpPr>
          <p:cNvPr id="13" name="Step 3"/>
          <p:cNvSpPr/>
          <p:nvPr/>
        </p:nvSpPr>
        <p:spPr>
          <a:xfrm>
            <a:off x="3749040" y="1325880"/>
            <a:ext cx="1417320" cy="1691640"/>
          </a:xfrm>
          <a:prstGeom prst="roundRect">
            <a:avLst>
              <a:gd name="adj" fmla="val 7742"/>
            </a:avLst>
          </a:prstGeom>
          <a:solidFill>
            <a:schemeClr val="accent1"/>
          </a:solidFill>
          <a:ln/>
        </p:spPr>
      </p:sp>
      <p:sp>
        <p:nvSpPr>
          <p:cNvPr id="14" name="Step num 3"/>
          <p:cNvSpPr txBox="1"/>
          <p:nvPr/>
        </p:nvSpPr>
        <p:spPr>
          <a:xfrm>
            <a:off x="3886200" y="1417320"/>
            <a:ext cx="1143000" cy="365760"/>
          </a:xfrm>
          <a:prstGeom prst="rect">
            <a:avLst/>
          </a:prstGeom>
          <a:noFill/>
          <a:ln/>
        </p:spPr>
        <p:txBody>
          <a:bodyPr wrap="square" lIns="0" tIns="0" rIns="0" bIns="0" rtlCol="0" anchor="t"/>
          <a:lstStyle/>
          <a:p>
            <a:pPr indent="0" marL="0">
              <a:buNone/>
            </a:pPr>
            <a:r>
              <a:rPr lang="en-US" sz="1600" b="1" dirty="0">
                <a:solidFill>
                  <a:schemeClr val="bg1"/>
                </a:solidFill>
              </a:rPr>
              <a:t>3</a:t>
            </a:r>
            <a:endParaRPr lang="en-US" sz="1600" dirty="0"/>
          </a:p>
        </p:txBody>
      </p:sp>
      <p:sp>
        <p:nvSpPr>
          <p:cNvPr id="15" name="Step head 3"/>
          <p:cNvSpPr txBox="1"/>
          <p:nvPr/>
        </p:nvSpPr>
        <p:spPr>
          <a:xfrm>
            <a:off x="3886200" y="1783080"/>
            <a:ext cx="1188720" cy="411480"/>
          </a:xfrm>
          <a:prstGeom prst="rect">
            <a:avLst/>
          </a:prstGeom>
          <a:noFill/>
          <a:ln/>
        </p:spPr>
        <p:txBody>
          <a:bodyPr wrap="square" lIns="0" tIns="0" rIns="0" bIns="0" rtlCol="0" anchor="t"/>
          <a:lstStyle/>
          <a:p>
            <a:pPr indent="0" marL="0">
              <a:buNone/>
            </a:pPr>
            <a:r>
              <a:rPr lang="en-US" sz="1500" b="1" dirty="0">
                <a:solidFill>
                  <a:schemeClr val="bg1"/>
                </a:solidFill>
              </a:rPr>
              <a:t>Build</a:t>
            </a:r>
            <a:endParaRPr lang="en-US" sz="1500" dirty="0"/>
          </a:p>
        </p:txBody>
      </p:sp>
      <p:sp>
        <p:nvSpPr>
          <p:cNvPr id="16" name="Step sub 3"/>
          <p:cNvSpPr txBox="1"/>
          <p:nvPr/>
        </p:nvSpPr>
        <p:spPr>
          <a:xfrm>
            <a:off x="3886200" y="2194560"/>
            <a:ext cx="1188720" cy="777240"/>
          </a:xfrm>
          <a:prstGeom prst="rect">
            <a:avLst/>
          </a:prstGeom>
          <a:noFill/>
          <a:ln/>
        </p:spPr>
        <p:txBody>
          <a:bodyPr wrap="square" lIns="0" tIns="0" rIns="0" bIns="0" rtlCol="0" anchor="t"/>
          <a:lstStyle/>
          <a:p>
            <a:pPr indent="0" marL="0">
              <a:buNone/>
            </a:pPr>
            <a:r>
              <a:rPr lang="en-US" sz="1100" dirty="0">
                <a:solidFill>
                  <a:schemeClr val="bg1"/>
                </a:solidFill>
              </a:rPr>
              <a:t>2 Docker images</a:t>
            </a:r>
            <a:endParaRPr lang="en-US" sz="1100" dirty="0"/>
          </a:p>
        </p:txBody>
      </p:sp>
      <p:sp>
        <p:nvSpPr>
          <p:cNvPr id="17" name="Step arrow 3"/>
          <p:cNvSpPr/>
          <p:nvPr/>
        </p:nvSpPr>
        <p:spPr>
          <a:xfrm>
            <a:off x="5166360" y="2167128"/>
            <a:ext cx="182880" cy="914"/>
          </a:xfrm>
          <a:prstGeom prst="line">
            <a:avLst/>
          </a:prstGeom>
          <a:noFill/>
          <a:ln w="22225">
            <a:solidFill>
              <a:schemeClr val="accent6"/>
            </a:solidFill>
            <a:prstDash val="solid"/>
            <a:tailEnd type="triangle"/>
          </a:ln>
        </p:spPr>
      </p:sp>
      <p:sp>
        <p:nvSpPr>
          <p:cNvPr id="18" name="Step 4"/>
          <p:cNvSpPr/>
          <p:nvPr/>
        </p:nvSpPr>
        <p:spPr>
          <a:xfrm>
            <a:off x="5349240" y="1325880"/>
            <a:ext cx="1417320" cy="1691640"/>
          </a:xfrm>
          <a:prstGeom prst="roundRect">
            <a:avLst>
              <a:gd name="adj" fmla="val 7742"/>
            </a:avLst>
          </a:prstGeom>
          <a:solidFill>
            <a:schemeClr val="accent2"/>
          </a:solidFill>
          <a:ln/>
        </p:spPr>
      </p:sp>
      <p:sp>
        <p:nvSpPr>
          <p:cNvPr id="19" name="Step num 4"/>
          <p:cNvSpPr txBox="1"/>
          <p:nvPr/>
        </p:nvSpPr>
        <p:spPr>
          <a:xfrm>
            <a:off x="5486400" y="1417320"/>
            <a:ext cx="1143000" cy="365760"/>
          </a:xfrm>
          <a:prstGeom prst="rect">
            <a:avLst/>
          </a:prstGeom>
          <a:noFill/>
          <a:ln/>
        </p:spPr>
        <p:txBody>
          <a:bodyPr wrap="square" lIns="0" tIns="0" rIns="0" bIns="0" rtlCol="0" anchor="t"/>
          <a:lstStyle/>
          <a:p>
            <a:pPr indent="0" marL="0">
              <a:buNone/>
            </a:pPr>
            <a:r>
              <a:rPr lang="en-US" sz="1600" b="1" dirty="0">
                <a:solidFill>
                  <a:schemeClr val="bg1"/>
                </a:solidFill>
              </a:rPr>
              <a:t>4</a:t>
            </a:r>
            <a:endParaRPr lang="en-US" sz="1600" dirty="0"/>
          </a:p>
        </p:txBody>
      </p:sp>
      <p:sp>
        <p:nvSpPr>
          <p:cNvPr id="20" name="Step head 4"/>
          <p:cNvSpPr txBox="1"/>
          <p:nvPr/>
        </p:nvSpPr>
        <p:spPr>
          <a:xfrm>
            <a:off x="5486400" y="1783080"/>
            <a:ext cx="1188720" cy="411480"/>
          </a:xfrm>
          <a:prstGeom prst="rect">
            <a:avLst/>
          </a:prstGeom>
          <a:noFill/>
          <a:ln/>
        </p:spPr>
        <p:txBody>
          <a:bodyPr wrap="square" lIns="0" tIns="0" rIns="0" bIns="0" rtlCol="0" anchor="t"/>
          <a:lstStyle/>
          <a:p>
            <a:pPr indent="0" marL="0">
              <a:buNone/>
            </a:pPr>
            <a:r>
              <a:rPr lang="en-US" sz="1500" b="1" dirty="0">
                <a:solidFill>
                  <a:schemeClr val="bg1"/>
                </a:solidFill>
              </a:rPr>
              <a:t>Trivy gate</a:t>
            </a:r>
            <a:endParaRPr lang="en-US" sz="1500" dirty="0"/>
          </a:p>
        </p:txBody>
      </p:sp>
      <p:sp>
        <p:nvSpPr>
          <p:cNvPr id="21" name="Step sub 4"/>
          <p:cNvSpPr txBox="1"/>
          <p:nvPr/>
        </p:nvSpPr>
        <p:spPr>
          <a:xfrm>
            <a:off x="5486400" y="2194560"/>
            <a:ext cx="1188720" cy="777240"/>
          </a:xfrm>
          <a:prstGeom prst="rect">
            <a:avLst/>
          </a:prstGeom>
          <a:noFill/>
          <a:ln/>
        </p:spPr>
        <p:txBody>
          <a:bodyPr wrap="square" lIns="0" tIns="0" rIns="0" bIns="0" rtlCol="0" anchor="t"/>
          <a:lstStyle/>
          <a:p>
            <a:pPr indent="0" marL="0">
              <a:buNone/>
            </a:pPr>
            <a:r>
              <a:rPr lang="en-US" sz="1100" dirty="0">
                <a:solidFill>
                  <a:schemeClr val="bg1"/>
                </a:solidFill>
              </a:rPr>
              <a:t>fail on any HIGH/CRITICAL</a:t>
            </a:r>
            <a:endParaRPr lang="en-US" sz="1100" dirty="0"/>
          </a:p>
        </p:txBody>
      </p:sp>
      <p:sp>
        <p:nvSpPr>
          <p:cNvPr id="22" name="Step arrow 4"/>
          <p:cNvSpPr/>
          <p:nvPr/>
        </p:nvSpPr>
        <p:spPr>
          <a:xfrm>
            <a:off x="6766560" y="2167128"/>
            <a:ext cx="182880" cy="914"/>
          </a:xfrm>
          <a:prstGeom prst="line">
            <a:avLst/>
          </a:prstGeom>
          <a:noFill/>
          <a:ln w="22225">
            <a:solidFill>
              <a:schemeClr val="accent6"/>
            </a:solidFill>
            <a:prstDash val="solid"/>
            <a:tailEnd type="triangle"/>
          </a:ln>
        </p:spPr>
      </p:sp>
      <p:sp>
        <p:nvSpPr>
          <p:cNvPr id="23" name="Step 5"/>
          <p:cNvSpPr/>
          <p:nvPr/>
        </p:nvSpPr>
        <p:spPr>
          <a:xfrm>
            <a:off x="6949440" y="1325880"/>
            <a:ext cx="1417320" cy="1691640"/>
          </a:xfrm>
          <a:prstGeom prst="roundRect">
            <a:avLst>
              <a:gd name="adj" fmla="val 7742"/>
            </a:avLst>
          </a:prstGeom>
          <a:solidFill>
            <a:schemeClr val="accent1"/>
          </a:solidFill>
          <a:ln/>
        </p:spPr>
      </p:sp>
      <p:sp>
        <p:nvSpPr>
          <p:cNvPr id="24" name="Step num 5"/>
          <p:cNvSpPr txBox="1"/>
          <p:nvPr/>
        </p:nvSpPr>
        <p:spPr>
          <a:xfrm>
            <a:off x="7086600" y="1417320"/>
            <a:ext cx="1143000" cy="365760"/>
          </a:xfrm>
          <a:prstGeom prst="rect">
            <a:avLst/>
          </a:prstGeom>
          <a:noFill/>
          <a:ln/>
        </p:spPr>
        <p:txBody>
          <a:bodyPr wrap="square" lIns="0" tIns="0" rIns="0" bIns="0" rtlCol="0" anchor="t"/>
          <a:lstStyle/>
          <a:p>
            <a:pPr indent="0" marL="0">
              <a:buNone/>
            </a:pPr>
            <a:r>
              <a:rPr lang="en-US" sz="1600" b="1" dirty="0">
                <a:solidFill>
                  <a:schemeClr val="bg1"/>
                </a:solidFill>
              </a:rPr>
              <a:t>5</a:t>
            </a:r>
            <a:endParaRPr lang="en-US" sz="1600" dirty="0"/>
          </a:p>
        </p:txBody>
      </p:sp>
      <p:sp>
        <p:nvSpPr>
          <p:cNvPr id="25" name="Step head 5"/>
          <p:cNvSpPr txBox="1"/>
          <p:nvPr/>
        </p:nvSpPr>
        <p:spPr>
          <a:xfrm>
            <a:off x="7086600" y="1783080"/>
            <a:ext cx="1188720" cy="411480"/>
          </a:xfrm>
          <a:prstGeom prst="rect">
            <a:avLst/>
          </a:prstGeom>
          <a:noFill/>
          <a:ln/>
        </p:spPr>
        <p:txBody>
          <a:bodyPr wrap="square" lIns="0" tIns="0" rIns="0" bIns="0" rtlCol="0" anchor="t"/>
          <a:lstStyle/>
          <a:p>
            <a:pPr indent="0" marL="0">
              <a:buNone/>
            </a:pPr>
            <a:r>
              <a:rPr lang="en-US" sz="1500" b="1" dirty="0">
                <a:solidFill>
                  <a:schemeClr val="bg1"/>
                </a:solidFill>
              </a:rPr>
              <a:t>GHCR</a:t>
            </a:r>
            <a:endParaRPr lang="en-US" sz="1500" dirty="0"/>
          </a:p>
        </p:txBody>
      </p:sp>
      <p:sp>
        <p:nvSpPr>
          <p:cNvPr id="26" name="Step sub 5"/>
          <p:cNvSpPr txBox="1"/>
          <p:nvPr/>
        </p:nvSpPr>
        <p:spPr>
          <a:xfrm>
            <a:off x="7086600" y="2194560"/>
            <a:ext cx="1188720" cy="777240"/>
          </a:xfrm>
          <a:prstGeom prst="rect">
            <a:avLst/>
          </a:prstGeom>
          <a:noFill/>
          <a:ln/>
        </p:spPr>
        <p:txBody>
          <a:bodyPr wrap="square" lIns="0" tIns="0" rIns="0" bIns="0" rtlCol="0" anchor="t"/>
          <a:lstStyle/>
          <a:p>
            <a:pPr indent="0" marL="0">
              <a:buNone/>
            </a:pPr>
            <a:r>
              <a:rPr lang="en-US" sz="1100" dirty="0">
                <a:solidFill>
                  <a:schemeClr val="bg1"/>
                </a:solidFill>
              </a:rPr>
              <a:t>tag = commit SHA</a:t>
            </a:r>
            <a:endParaRPr lang="en-US" sz="1100" dirty="0"/>
          </a:p>
        </p:txBody>
      </p:sp>
      <p:sp>
        <p:nvSpPr>
          <p:cNvPr id="27" name="Step arrow 5"/>
          <p:cNvSpPr/>
          <p:nvPr/>
        </p:nvSpPr>
        <p:spPr>
          <a:xfrm>
            <a:off x="8366760" y="2167128"/>
            <a:ext cx="182880" cy="914"/>
          </a:xfrm>
          <a:prstGeom prst="line">
            <a:avLst/>
          </a:prstGeom>
          <a:noFill/>
          <a:ln w="22225">
            <a:solidFill>
              <a:schemeClr val="accent6"/>
            </a:solidFill>
            <a:prstDash val="solid"/>
            <a:tailEnd type="triangle"/>
          </a:ln>
        </p:spPr>
      </p:sp>
      <p:sp>
        <p:nvSpPr>
          <p:cNvPr id="28" name="Step 6"/>
          <p:cNvSpPr/>
          <p:nvPr/>
        </p:nvSpPr>
        <p:spPr>
          <a:xfrm>
            <a:off x="8549640" y="1325880"/>
            <a:ext cx="1417320" cy="1691640"/>
          </a:xfrm>
          <a:prstGeom prst="roundRect">
            <a:avLst>
              <a:gd name="adj" fmla="val 7742"/>
            </a:avLst>
          </a:prstGeom>
          <a:solidFill>
            <a:schemeClr val="accent1"/>
          </a:solidFill>
          <a:ln/>
        </p:spPr>
      </p:sp>
      <p:sp>
        <p:nvSpPr>
          <p:cNvPr id="29" name="Step num 6"/>
          <p:cNvSpPr txBox="1"/>
          <p:nvPr/>
        </p:nvSpPr>
        <p:spPr>
          <a:xfrm>
            <a:off x="8686800" y="1417320"/>
            <a:ext cx="1143000" cy="365760"/>
          </a:xfrm>
          <a:prstGeom prst="rect">
            <a:avLst/>
          </a:prstGeom>
          <a:noFill/>
          <a:ln/>
        </p:spPr>
        <p:txBody>
          <a:bodyPr wrap="square" lIns="0" tIns="0" rIns="0" bIns="0" rtlCol="0" anchor="t"/>
          <a:lstStyle/>
          <a:p>
            <a:pPr indent="0" marL="0">
              <a:buNone/>
            </a:pPr>
            <a:r>
              <a:rPr lang="en-US" sz="1600" b="1" dirty="0">
                <a:solidFill>
                  <a:schemeClr val="bg1"/>
                </a:solidFill>
              </a:rPr>
              <a:t>6</a:t>
            </a:r>
            <a:endParaRPr lang="en-US" sz="1600" dirty="0"/>
          </a:p>
        </p:txBody>
      </p:sp>
      <p:sp>
        <p:nvSpPr>
          <p:cNvPr id="30" name="Step head 6"/>
          <p:cNvSpPr txBox="1"/>
          <p:nvPr/>
        </p:nvSpPr>
        <p:spPr>
          <a:xfrm>
            <a:off x="8686800" y="1783080"/>
            <a:ext cx="1188720" cy="411480"/>
          </a:xfrm>
          <a:prstGeom prst="rect">
            <a:avLst/>
          </a:prstGeom>
          <a:noFill/>
          <a:ln/>
        </p:spPr>
        <p:txBody>
          <a:bodyPr wrap="square" lIns="0" tIns="0" rIns="0" bIns="0" rtlCol="0" anchor="t"/>
          <a:lstStyle/>
          <a:p>
            <a:pPr indent="0" marL="0">
              <a:buNone/>
            </a:pPr>
            <a:r>
              <a:rPr lang="en-US" sz="1500" b="1" dirty="0">
                <a:solidFill>
                  <a:schemeClr val="bg1"/>
                </a:solidFill>
              </a:rPr>
              <a:t>GitOps commit</a:t>
            </a:r>
            <a:endParaRPr lang="en-US" sz="1500" dirty="0"/>
          </a:p>
        </p:txBody>
      </p:sp>
      <p:sp>
        <p:nvSpPr>
          <p:cNvPr id="31" name="Step sub 6"/>
          <p:cNvSpPr txBox="1"/>
          <p:nvPr/>
        </p:nvSpPr>
        <p:spPr>
          <a:xfrm>
            <a:off x="8686800" y="2194560"/>
            <a:ext cx="1188720" cy="777240"/>
          </a:xfrm>
          <a:prstGeom prst="rect">
            <a:avLst/>
          </a:prstGeom>
          <a:noFill/>
          <a:ln/>
        </p:spPr>
        <p:txBody>
          <a:bodyPr wrap="square" lIns="0" tIns="0" rIns="0" bIns="0" rtlCol="0" anchor="t"/>
          <a:lstStyle/>
          <a:p>
            <a:pPr indent="0" marL="0">
              <a:buNone/>
            </a:pPr>
            <a:r>
              <a:rPr lang="en-US" sz="1100" dirty="0">
                <a:solidFill>
                  <a:schemeClr val="bg1"/>
                </a:solidFill>
              </a:rPr>
              <a:t>SHA → values-eks.yaml</a:t>
            </a:r>
            <a:endParaRPr lang="en-US" sz="1100" dirty="0"/>
          </a:p>
        </p:txBody>
      </p:sp>
      <p:sp>
        <p:nvSpPr>
          <p:cNvPr id="32" name="Step arrow 6"/>
          <p:cNvSpPr/>
          <p:nvPr/>
        </p:nvSpPr>
        <p:spPr>
          <a:xfrm>
            <a:off x="9966960" y="2167128"/>
            <a:ext cx="182880" cy="914"/>
          </a:xfrm>
          <a:prstGeom prst="line">
            <a:avLst/>
          </a:prstGeom>
          <a:noFill/>
          <a:ln w="22225">
            <a:solidFill>
              <a:schemeClr val="accent6"/>
            </a:solidFill>
            <a:prstDash val="solid"/>
            <a:tailEnd type="triangle"/>
          </a:ln>
        </p:spPr>
      </p:sp>
      <p:sp>
        <p:nvSpPr>
          <p:cNvPr id="33" name="Step 7"/>
          <p:cNvSpPr/>
          <p:nvPr/>
        </p:nvSpPr>
        <p:spPr>
          <a:xfrm>
            <a:off x="10149840" y="1325880"/>
            <a:ext cx="1417320" cy="1691640"/>
          </a:xfrm>
          <a:prstGeom prst="roundRect">
            <a:avLst>
              <a:gd name="adj" fmla="val 7742"/>
            </a:avLst>
          </a:prstGeom>
          <a:solidFill>
            <a:schemeClr val="accent1"/>
          </a:solidFill>
          <a:ln/>
        </p:spPr>
      </p:sp>
      <p:sp>
        <p:nvSpPr>
          <p:cNvPr id="34" name="Step num 7"/>
          <p:cNvSpPr txBox="1"/>
          <p:nvPr/>
        </p:nvSpPr>
        <p:spPr>
          <a:xfrm>
            <a:off x="10287000" y="1417320"/>
            <a:ext cx="1143000" cy="365760"/>
          </a:xfrm>
          <a:prstGeom prst="rect">
            <a:avLst/>
          </a:prstGeom>
          <a:noFill/>
          <a:ln/>
        </p:spPr>
        <p:txBody>
          <a:bodyPr wrap="square" lIns="0" tIns="0" rIns="0" bIns="0" rtlCol="0" anchor="t"/>
          <a:lstStyle/>
          <a:p>
            <a:pPr indent="0" marL="0">
              <a:buNone/>
            </a:pPr>
            <a:r>
              <a:rPr lang="en-US" sz="1600" b="1" dirty="0">
                <a:solidFill>
                  <a:schemeClr val="bg1"/>
                </a:solidFill>
              </a:rPr>
              <a:t>7</a:t>
            </a:r>
            <a:endParaRPr lang="en-US" sz="1600" dirty="0"/>
          </a:p>
        </p:txBody>
      </p:sp>
      <p:sp>
        <p:nvSpPr>
          <p:cNvPr id="35" name="Step head 7"/>
          <p:cNvSpPr txBox="1"/>
          <p:nvPr/>
        </p:nvSpPr>
        <p:spPr>
          <a:xfrm>
            <a:off x="10287000" y="1783080"/>
            <a:ext cx="1188720" cy="411480"/>
          </a:xfrm>
          <a:prstGeom prst="rect">
            <a:avLst/>
          </a:prstGeom>
          <a:noFill/>
          <a:ln/>
        </p:spPr>
        <p:txBody>
          <a:bodyPr wrap="square" lIns="0" tIns="0" rIns="0" bIns="0" rtlCol="0" anchor="t"/>
          <a:lstStyle/>
          <a:p>
            <a:pPr indent="0" marL="0">
              <a:buNone/>
            </a:pPr>
            <a:r>
              <a:rPr lang="en-US" sz="1500" b="1" dirty="0">
                <a:solidFill>
                  <a:schemeClr val="bg1"/>
                </a:solidFill>
              </a:rPr>
              <a:t>Argo CD</a:t>
            </a:r>
            <a:endParaRPr lang="en-US" sz="1500" dirty="0"/>
          </a:p>
        </p:txBody>
      </p:sp>
      <p:sp>
        <p:nvSpPr>
          <p:cNvPr id="36" name="Step sub 7"/>
          <p:cNvSpPr txBox="1"/>
          <p:nvPr/>
        </p:nvSpPr>
        <p:spPr>
          <a:xfrm>
            <a:off x="10287000" y="2194560"/>
            <a:ext cx="1188720" cy="777240"/>
          </a:xfrm>
          <a:prstGeom prst="rect">
            <a:avLst/>
          </a:prstGeom>
          <a:noFill/>
          <a:ln/>
        </p:spPr>
        <p:txBody>
          <a:bodyPr wrap="square" lIns="0" tIns="0" rIns="0" bIns="0" rtlCol="0" anchor="t"/>
          <a:lstStyle/>
          <a:p>
            <a:pPr indent="0" marL="0">
              <a:buNone/>
            </a:pPr>
            <a:r>
              <a:rPr lang="en-US" sz="1100" dirty="0">
                <a:solidFill>
                  <a:schemeClr val="bg1"/>
                </a:solidFill>
              </a:rPr>
              <a:t>syncs to EKS</a:t>
            </a:r>
            <a:endParaRPr lang="en-US" sz="1100" dirty="0"/>
          </a:p>
        </p:txBody>
      </p:sp>
      <p:pic>
        <p:nvPicPr>
          <p:cNvPr id="37" name="Pipeline screenshot" descr="C:\Users\Asus\AppData\Local\Temp\claude\C--Users-Asus-Documents-3rd-year-term-1-devops-nency-mam\68230852-859c-4662-bacc-99c8e7e44c13\scratchpad\deck\img\m5-pipeline-green.png">    </p:cNvPr>
          <p:cNvPicPr>
            <a:picLocks noChangeAspect="1"/>
          </p:cNvPicPr>
          <p:nvPr/>
        </p:nvPicPr>
        <p:blipFill>
          <a:blip r:embed="rId1"/>
          <a:stretch>
            <a:fillRect/>
          </a:stretch>
        </p:blipFill>
        <p:spPr>
          <a:xfrm>
            <a:off x="548640" y="3337560"/>
            <a:ext cx="5120640" cy="2847964"/>
          </a:xfrm>
          <a:prstGeom prst="rect">
            <a:avLst/>
          </a:prstGeom>
        </p:spPr>
      </p:pic>
      <p:sp>
        <p:nvSpPr>
          <p:cNvPr id="38" name="Gates head"/>
          <p:cNvSpPr txBox="1"/>
          <p:nvPr/>
        </p:nvSpPr>
        <p:spPr>
          <a:xfrm>
            <a:off x="6035040" y="3337560"/>
            <a:ext cx="557784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What stops a bad change</a:t>
            </a:r>
            <a:endParaRPr lang="en-US" sz="2000" dirty="0"/>
          </a:p>
        </p:txBody>
      </p:sp>
      <p:sp>
        <p:nvSpPr>
          <p:cNvPr id="39" name="Gates bullets"/>
          <p:cNvSpPr txBox="1"/>
          <p:nvPr/>
        </p:nvSpPr>
        <p:spPr>
          <a:xfrm>
            <a:off x="6035040" y="3840480"/>
            <a:ext cx="5577840" cy="2377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A failing test or lint error stops the run - no image is built</a:t>
            </a:r>
            <a:endParaRPr lang="en-US" sz="1400" dirty="0"/>
          </a:p>
          <a:p>
            <a:pPr marL="342900" indent="-342900">
              <a:spcAft>
                <a:spcPts val="600"/>
              </a:spcAft>
              <a:buSzPct val="100000"/>
              <a:buChar char="•"/>
            </a:pPr>
            <a:r>
              <a:rPr lang="en-US" sz="1500" dirty="0">
                <a:solidFill>
                  <a:schemeClr val="tx2"/>
                </a:solidFill>
              </a:rPr>
              <a:t>A HIGH or CRITICAL CVE fails the Trivy gate - nothing is pushed</a:t>
            </a:r>
            <a:endParaRPr lang="en-US" sz="1400" dirty="0"/>
          </a:p>
          <a:p>
            <a:pPr marL="342900" indent="-342900">
              <a:spcAft>
                <a:spcPts val="600"/>
              </a:spcAft>
              <a:buSzPct val="100000"/>
              <a:buChar char="•"/>
            </a:pPr>
            <a:r>
              <a:rPr lang="en-US" sz="1500" dirty="0">
                <a:solidFill>
                  <a:schemeClr val="tx2"/>
                </a:solidFill>
              </a:rPr>
              <a:t>Images are tagged with the commit SHA, never latest</a:t>
            </a:r>
            <a:endParaRPr lang="en-US" sz="1400" dirty="0"/>
          </a:p>
          <a:p>
            <a:pPr marL="342900" indent="-342900">
              <a:spcAft>
                <a:spcPts val="600"/>
              </a:spcAft>
              <a:buSzPct val="100000"/>
              <a:buChar char="•"/>
            </a:pPr>
            <a:r>
              <a:rPr lang="en-US" sz="1500" dirty="0">
                <a:solidFill>
                  <a:schemeClr val="tx2"/>
                </a:solidFill>
              </a:rPr>
              <a:t>Deploy = a Git commit: Argo CD rolls it out, CI waits until it is Healthy</a:t>
            </a:r>
            <a:endParaRPr lang="en-US" sz="14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Infrastructure as code - Terraform</a:t>
            </a:r>
            <a:endParaRPr lang="en-US" sz="3600" dirty="0"/>
          </a:p>
        </p:txBody>
      </p:sp>
      <p:sp>
        <p:nvSpPr>
          <p:cNvPr id="3" name="VPC area"/>
          <p:cNvSpPr/>
          <p:nvPr/>
        </p:nvSpPr>
        <p:spPr>
          <a:xfrm>
            <a:off x="548640" y="1325880"/>
            <a:ext cx="6309360" cy="4892040"/>
          </a:xfrm>
          <a:prstGeom prst="roundRect">
            <a:avLst>
              <a:gd name="adj" fmla="val 2243"/>
            </a:avLst>
          </a:prstGeom>
          <a:solidFill>
            <a:schemeClr val="bg2"/>
          </a:solidFill>
          <a:ln/>
        </p:spPr>
      </p:sp>
      <p:sp>
        <p:nvSpPr>
          <p:cNvPr id="4" name="VPC label"/>
          <p:cNvSpPr txBox="1"/>
          <p:nvPr/>
        </p:nvSpPr>
        <p:spPr>
          <a:xfrm>
            <a:off x="777240" y="1463040"/>
            <a:ext cx="5852160" cy="320040"/>
          </a:xfrm>
          <a:prstGeom prst="rect">
            <a:avLst/>
          </a:prstGeom>
          <a:noFill/>
          <a:ln/>
        </p:spPr>
        <p:txBody>
          <a:bodyPr wrap="square" lIns="0" tIns="0" rIns="0" bIns="0" rtlCol="0" anchor="t"/>
          <a:lstStyle/>
          <a:p>
            <a:pPr indent="0" marL="0">
              <a:buNone/>
            </a:pPr>
            <a:r>
              <a:rPr lang="en-US" sz="1300" b="1" dirty="0">
                <a:solidFill>
                  <a:schemeClr val="accent1"/>
                </a:solidFill>
              </a:rPr>
              <a:t>VPC 10.20.0.0/16 · ap-south-1 (Mumbai)</a:t>
            </a:r>
            <a:endParaRPr lang="en-US" sz="1300" dirty="0"/>
          </a:p>
        </p:txBody>
      </p:sp>
      <p:sp>
        <p:nvSpPr>
          <p:cNvPr id="5" name="AZ ap-south-1a"/>
          <p:cNvSpPr txBox="1"/>
          <p:nvPr/>
        </p:nvSpPr>
        <p:spPr>
          <a:xfrm>
            <a:off x="777240" y="1874520"/>
            <a:ext cx="2834640" cy="274320"/>
          </a:xfrm>
          <a:prstGeom prst="rect">
            <a:avLst/>
          </a:prstGeom>
          <a:noFill/>
          <a:ln/>
        </p:spPr>
        <p:txBody>
          <a:bodyPr wrap="square" lIns="0" tIns="0" rIns="0" bIns="0" rtlCol="0" anchor="t"/>
          <a:lstStyle/>
          <a:p>
            <a:pPr indent="0" marL="0">
              <a:buNone/>
            </a:pPr>
            <a:r>
              <a:rPr lang="en-US" sz="1200" b="1" dirty="0">
                <a:solidFill>
                  <a:schemeClr val="accent6"/>
                </a:solidFill>
              </a:rPr>
              <a:t>ap-south-1a</a:t>
            </a:r>
            <a:endParaRPr lang="en-US" sz="1200" dirty="0"/>
          </a:p>
        </p:txBody>
      </p:sp>
      <p:sp>
        <p:nvSpPr>
          <p:cNvPr id="6" name="Public ap-south-1a"/>
          <p:cNvSpPr/>
          <p:nvPr/>
        </p:nvSpPr>
        <p:spPr>
          <a:xfrm>
            <a:off x="777240" y="2240280"/>
            <a:ext cx="2834640" cy="914400"/>
          </a:xfrm>
          <a:prstGeom prst="roundRect">
            <a:avLst>
              <a:gd name="adj" fmla="val 10000"/>
            </a:avLst>
          </a:prstGeom>
          <a:solidFill>
            <a:schemeClr val="accent2"/>
          </a:solidFill>
          <a:ln/>
        </p:spPr>
      </p:sp>
      <p:sp>
        <p:nvSpPr>
          <p:cNvPr id="7" name="Public ap-south-1a label"/>
          <p:cNvSpPr txBox="1"/>
          <p:nvPr/>
        </p:nvSpPr>
        <p:spPr>
          <a:xfrm>
            <a:off x="777240" y="2240280"/>
            <a:ext cx="2834640" cy="914400"/>
          </a:xfrm>
          <a:prstGeom prst="rect">
            <a:avLst/>
          </a:prstGeom>
          <a:noFill/>
          <a:ln/>
        </p:spPr>
        <p:txBody>
          <a:bodyPr wrap="square" lIns="508" tIns="508" rIns="508" bIns="508" rtlCol="0" anchor="ctr"/>
          <a:lstStyle/>
          <a:p>
            <a:pPr algn="ctr" indent="0" marL="0">
              <a:buNone/>
            </a:pPr>
            <a:r>
              <a:rPr lang="en-US" sz="1400" b="1" dirty="0">
                <a:solidFill>
                  <a:schemeClr val="bg1"/>
                </a:solidFill>
              </a:rPr>
              <a:t>Public subnet</a:t>
            </a:r>
            <a:endParaRPr lang="en-US" sz="1400" dirty="0"/>
          </a:p>
          <a:p>
            <a:pPr algn="ctr" indent="0" marL="0">
              <a:buNone/>
            </a:pPr>
            <a:r>
              <a:rPr lang="en-US" sz="1100" dirty="0">
                <a:solidFill>
                  <a:schemeClr val="bg1"/>
                </a:solidFill>
              </a:rPr>
              <a:t>10.20.101.0/24 · LB · NAT</a:t>
            </a:r>
            <a:endParaRPr lang="en-US" sz="1400" dirty="0"/>
          </a:p>
        </p:txBody>
      </p:sp>
      <p:sp>
        <p:nvSpPr>
          <p:cNvPr id="8" name="Private ap-south-1a"/>
          <p:cNvSpPr/>
          <p:nvPr/>
        </p:nvSpPr>
        <p:spPr>
          <a:xfrm>
            <a:off x="777240" y="3429000"/>
            <a:ext cx="2834640" cy="914400"/>
          </a:xfrm>
          <a:prstGeom prst="roundRect">
            <a:avLst>
              <a:gd name="adj" fmla="val 10000"/>
            </a:avLst>
          </a:prstGeom>
          <a:solidFill>
            <a:schemeClr val="accent6"/>
          </a:solidFill>
          <a:ln/>
        </p:spPr>
      </p:sp>
      <p:sp>
        <p:nvSpPr>
          <p:cNvPr id="9" name="Private ap-south-1a label"/>
          <p:cNvSpPr txBox="1"/>
          <p:nvPr/>
        </p:nvSpPr>
        <p:spPr>
          <a:xfrm>
            <a:off x="777240" y="3429000"/>
            <a:ext cx="2834640" cy="914400"/>
          </a:xfrm>
          <a:prstGeom prst="rect">
            <a:avLst/>
          </a:prstGeom>
          <a:noFill/>
          <a:ln/>
        </p:spPr>
        <p:txBody>
          <a:bodyPr wrap="square" lIns="508" tIns="508" rIns="508" bIns="508" rtlCol="0" anchor="ctr"/>
          <a:lstStyle/>
          <a:p>
            <a:pPr algn="ctr" indent="0" marL="0">
              <a:buNone/>
            </a:pPr>
            <a:r>
              <a:rPr lang="en-US" sz="1400" b="1" dirty="0">
                <a:solidFill>
                  <a:schemeClr val="bg1"/>
                </a:solidFill>
              </a:rPr>
              <a:t>Private subnet</a:t>
            </a:r>
            <a:endParaRPr lang="en-US" sz="1400" dirty="0"/>
          </a:p>
          <a:p>
            <a:pPr algn="ctr" indent="0" marL="0">
              <a:buNone/>
            </a:pPr>
            <a:r>
              <a:rPr lang="en-US" sz="1100" dirty="0">
                <a:solidFill>
                  <a:schemeClr val="bg1"/>
                </a:solidFill>
              </a:rPr>
              <a:t>10.20.1.0/24</a:t>
            </a:r>
            <a:endParaRPr lang="en-US" sz="1400" dirty="0"/>
          </a:p>
        </p:txBody>
      </p:sp>
      <p:sp>
        <p:nvSpPr>
          <p:cNvPr id="10" name="Node ap-south-1a"/>
          <p:cNvSpPr/>
          <p:nvPr/>
        </p:nvSpPr>
        <p:spPr>
          <a:xfrm>
            <a:off x="1097280" y="4617720"/>
            <a:ext cx="2194560" cy="777240"/>
          </a:xfrm>
          <a:prstGeom prst="roundRect">
            <a:avLst>
              <a:gd name="adj" fmla="val 11765"/>
            </a:avLst>
          </a:prstGeom>
          <a:solidFill>
            <a:schemeClr val="accent1"/>
          </a:solidFill>
          <a:ln/>
        </p:spPr>
      </p:sp>
      <p:sp>
        <p:nvSpPr>
          <p:cNvPr id="11" name="Node ap-south-1a label"/>
          <p:cNvSpPr txBox="1"/>
          <p:nvPr/>
        </p:nvSpPr>
        <p:spPr>
          <a:xfrm>
            <a:off x="1097280" y="4617720"/>
            <a:ext cx="2194560" cy="777240"/>
          </a:xfrm>
          <a:prstGeom prst="rect">
            <a:avLst/>
          </a:prstGeom>
          <a:noFill/>
          <a:ln/>
        </p:spPr>
        <p:txBody>
          <a:bodyPr wrap="square" lIns="508" tIns="508" rIns="508" bIns="508" rtlCol="0" anchor="ctr"/>
          <a:lstStyle/>
          <a:p>
            <a:pPr algn="ctr" indent="0" marL="0">
              <a:buNone/>
            </a:pPr>
            <a:r>
              <a:rPr lang="en-US" sz="1400" b="1" dirty="0">
                <a:solidFill>
                  <a:schemeClr val="bg1"/>
                </a:solidFill>
              </a:rPr>
              <a:t>EKS node</a:t>
            </a:r>
            <a:endParaRPr lang="en-US" sz="1400" dirty="0"/>
          </a:p>
          <a:p>
            <a:pPr algn="ctr" indent="0" marL="0">
              <a:buNone/>
            </a:pPr>
            <a:r>
              <a:rPr lang="en-US" sz="1100" dirty="0">
                <a:solidFill>
                  <a:schemeClr val="bg1"/>
                </a:solidFill>
              </a:rPr>
              <a:t>m7i-flex.large</a:t>
            </a:r>
            <a:endParaRPr lang="en-US" sz="1400" dirty="0"/>
          </a:p>
        </p:txBody>
      </p:sp>
      <p:sp>
        <p:nvSpPr>
          <p:cNvPr id="12" name="AZ ap-south-1b"/>
          <p:cNvSpPr txBox="1"/>
          <p:nvPr/>
        </p:nvSpPr>
        <p:spPr>
          <a:xfrm>
            <a:off x="3840480" y="1874520"/>
            <a:ext cx="2834640" cy="274320"/>
          </a:xfrm>
          <a:prstGeom prst="rect">
            <a:avLst/>
          </a:prstGeom>
          <a:noFill/>
          <a:ln/>
        </p:spPr>
        <p:txBody>
          <a:bodyPr wrap="square" lIns="0" tIns="0" rIns="0" bIns="0" rtlCol="0" anchor="t"/>
          <a:lstStyle/>
          <a:p>
            <a:pPr indent="0" marL="0">
              <a:buNone/>
            </a:pPr>
            <a:r>
              <a:rPr lang="en-US" sz="1200" b="1" dirty="0">
                <a:solidFill>
                  <a:schemeClr val="accent6"/>
                </a:solidFill>
              </a:rPr>
              <a:t>ap-south-1b</a:t>
            </a:r>
            <a:endParaRPr lang="en-US" sz="1200" dirty="0"/>
          </a:p>
        </p:txBody>
      </p:sp>
      <p:sp>
        <p:nvSpPr>
          <p:cNvPr id="13" name="Public ap-south-1b"/>
          <p:cNvSpPr/>
          <p:nvPr/>
        </p:nvSpPr>
        <p:spPr>
          <a:xfrm>
            <a:off x="3840480" y="2240280"/>
            <a:ext cx="2834640" cy="914400"/>
          </a:xfrm>
          <a:prstGeom prst="roundRect">
            <a:avLst>
              <a:gd name="adj" fmla="val 10000"/>
            </a:avLst>
          </a:prstGeom>
          <a:solidFill>
            <a:schemeClr val="accent2"/>
          </a:solidFill>
          <a:ln/>
        </p:spPr>
      </p:sp>
      <p:sp>
        <p:nvSpPr>
          <p:cNvPr id="14" name="Public ap-south-1b label"/>
          <p:cNvSpPr txBox="1"/>
          <p:nvPr/>
        </p:nvSpPr>
        <p:spPr>
          <a:xfrm>
            <a:off x="3840480" y="2240280"/>
            <a:ext cx="2834640" cy="914400"/>
          </a:xfrm>
          <a:prstGeom prst="rect">
            <a:avLst/>
          </a:prstGeom>
          <a:noFill/>
          <a:ln/>
        </p:spPr>
        <p:txBody>
          <a:bodyPr wrap="square" lIns="508" tIns="508" rIns="508" bIns="508" rtlCol="0" anchor="ctr"/>
          <a:lstStyle/>
          <a:p>
            <a:pPr algn="ctr" indent="0" marL="0">
              <a:buNone/>
            </a:pPr>
            <a:r>
              <a:rPr lang="en-US" sz="1400" b="1" dirty="0">
                <a:solidFill>
                  <a:schemeClr val="bg1"/>
                </a:solidFill>
              </a:rPr>
              <a:t>Public subnet</a:t>
            </a:r>
            <a:endParaRPr lang="en-US" sz="1400" dirty="0"/>
          </a:p>
          <a:p>
            <a:pPr algn="ctr" indent="0" marL="0">
              <a:buNone/>
            </a:pPr>
            <a:r>
              <a:rPr lang="en-US" sz="1100" dirty="0">
                <a:solidFill>
                  <a:schemeClr val="bg1"/>
                </a:solidFill>
              </a:rPr>
              <a:t>10.20.102.0/24 · LB</a:t>
            </a:r>
            <a:endParaRPr lang="en-US" sz="1400" dirty="0"/>
          </a:p>
        </p:txBody>
      </p:sp>
      <p:sp>
        <p:nvSpPr>
          <p:cNvPr id="15" name="Private ap-south-1b"/>
          <p:cNvSpPr/>
          <p:nvPr/>
        </p:nvSpPr>
        <p:spPr>
          <a:xfrm>
            <a:off x="3840480" y="3429000"/>
            <a:ext cx="2834640" cy="914400"/>
          </a:xfrm>
          <a:prstGeom prst="roundRect">
            <a:avLst>
              <a:gd name="adj" fmla="val 10000"/>
            </a:avLst>
          </a:prstGeom>
          <a:solidFill>
            <a:schemeClr val="accent6"/>
          </a:solidFill>
          <a:ln/>
        </p:spPr>
      </p:sp>
      <p:sp>
        <p:nvSpPr>
          <p:cNvPr id="16" name="Private ap-south-1b label"/>
          <p:cNvSpPr txBox="1"/>
          <p:nvPr/>
        </p:nvSpPr>
        <p:spPr>
          <a:xfrm>
            <a:off x="3840480" y="3429000"/>
            <a:ext cx="2834640" cy="914400"/>
          </a:xfrm>
          <a:prstGeom prst="rect">
            <a:avLst/>
          </a:prstGeom>
          <a:noFill/>
          <a:ln/>
        </p:spPr>
        <p:txBody>
          <a:bodyPr wrap="square" lIns="508" tIns="508" rIns="508" bIns="508" rtlCol="0" anchor="ctr"/>
          <a:lstStyle/>
          <a:p>
            <a:pPr algn="ctr" indent="0" marL="0">
              <a:buNone/>
            </a:pPr>
            <a:r>
              <a:rPr lang="en-US" sz="1400" b="1" dirty="0">
                <a:solidFill>
                  <a:schemeClr val="bg1"/>
                </a:solidFill>
              </a:rPr>
              <a:t>Private subnet</a:t>
            </a:r>
            <a:endParaRPr lang="en-US" sz="1400" dirty="0"/>
          </a:p>
          <a:p>
            <a:pPr algn="ctr" indent="0" marL="0">
              <a:buNone/>
            </a:pPr>
            <a:r>
              <a:rPr lang="en-US" sz="1100" dirty="0">
                <a:solidFill>
                  <a:schemeClr val="bg1"/>
                </a:solidFill>
              </a:rPr>
              <a:t>10.20.2.0/24</a:t>
            </a:r>
            <a:endParaRPr lang="en-US" sz="1400" dirty="0"/>
          </a:p>
        </p:txBody>
      </p:sp>
      <p:sp>
        <p:nvSpPr>
          <p:cNvPr id="17" name="Node ap-south-1b"/>
          <p:cNvSpPr/>
          <p:nvPr/>
        </p:nvSpPr>
        <p:spPr>
          <a:xfrm>
            <a:off x="4160520" y="4617720"/>
            <a:ext cx="2194560" cy="777240"/>
          </a:xfrm>
          <a:prstGeom prst="roundRect">
            <a:avLst>
              <a:gd name="adj" fmla="val 11765"/>
            </a:avLst>
          </a:prstGeom>
          <a:solidFill>
            <a:schemeClr val="accent1"/>
          </a:solidFill>
          <a:ln/>
        </p:spPr>
      </p:sp>
      <p:sp>
        <p:nvSpPr>
          <p:cNvPr id="18" name="Node ap-south-1b label"/>
          <p:cNvSpPr txBox="1"/>
          <p:nvPr/>
        </p:nvSpPr>
        <p:spPr>
          <a:xfrm>
            <a:off x="4160520" y="4617720"/>
            <a:ext cx="2194560" cy="777240"/>
          </a:xfrm>
          <a:prstGeom prst="rect">
            <a:avLst/>
          </a:prstGeom>
          <a:noFill/>
          <a:ln/>
        </p:spPr>
        <p:txBody>
          <a:bodyPr wrap="square" lIns="508" tIns="508" rIns="508" bIns="508" rtlCol="0" anchor="ctr"/>
          <a:lstStyle/>
          <a:p>
            <a:pPr algn="ctr" indent="0" marL="0">
              <a:buNone/>
            </a:pPr>
            <a:r>
              <a:rPr lang="en-US" sz="1400" b="1" dirty="0">
                <a:solidFill>
                  <a:schemeClr val="bg1"/>
                </a:solidFill>
              </a:rPr>
              <a:t>EKS node</a:t>
            </a:r>
            <a:endParaRPr lang="en-US" sz="1400" dirty="0"/>
          </a:p>
          <a:p>
            <a:pPr algn="ctr" indent="0" marL="0">
              <a:buNone/>
            </a:pPr>
            <a:r>
              <a:rPr lang="en-US" sz="1100" dirty="0">
                <a:solidFill>
                  <a:schemeClr val="bg1"/>
                </a:solidFill>
              </a:rPr>
              <a:t>m7i-flex.large</a:t>
            </a:r>
            <a:endParaRPr lang="en-US" sz="1400" dirty="0"/>
          </a:p>
        </p:txBody>
      </p:sp>
      <p:sp>
        <p:nvSpPr>
          <p:cNvPr id="19" name="VPC footnote"/>
          <p:cNvSpPr txBox="1"/>
          <p:nvPr/>
        </p:nvSpPr>
        <p:spPr>
          <a:xfrm>
            <a:off x="777240" y="5577840"/>
            <a:ext cx="5852160" cy="365760"/>
          </a:xfrm>
          <a:prstGeom prst="rect">
            <a:avLst/>
          </a:prstGeom>
          <a:noFill/>
          <a:ln/>
        </p:spPr>
        <p:txBody>
          <a:bodyPr wrap="square" lIns="0" tIns="0" rIns="0" bIns="0" rtlCol="0" anchor="t"/>
          <a:lstStyle/>
          <a:p>
            <a:pPr indent="0" marL="0">
              <a:buNone/>
            </a:pPr>
            <a:r>
              <a:rPr lang="en-US" sz="1200" dirty="0">
                <a:solidFill>
                  <a:schemeClr val="tx2"/>
                </a:solidFill>
              </a:rPr>
              <a:t>+ internet gateway · managed node group · EBS CSI add-on</a:t>
            </a:r>
            <a:endParaRPr lang="en-US" sz="1200" dirty="0"/>
          </a:p>
        </p:txBody>
      </p:sp>
      <p:sp>
        <p:nvSpPr>
          <p:cNvPr id="20" name="Infra stat resources"/>
          <p:cNvSpPr/>
          <p:nvPr/>
        </p:nvSpPr>
        <p:spPr>
          <a:xfrm>
            <a:off x="7223760" y="1325880"/>
            <a:ext cx="2103120" cy="1325880"/>
          </a:xfrm>
          <a:prstGeom prst="roundRect">
            <a:avLst>
              <a:gd name="adj" fmla="val 8276"/>
            </a:avLst>
          </a:prstGeom>
          <a:solidFill>
            <a:schemeClr val="bg2"/>
          </a:solidFill>
          <a:ln/>
        </p:spPr>
      </p:sp>
      <p:sp>
        <p:nvSpPr>
          <p:cNvPr id="21" name="Infra stat resources value"/>
          <p:cNvSpPr txBox="1"/>
          <p:nvPr/>
        </p:nvSpPr>
        <p:spPr>
          <a:xfrm>
            <a:off x="7452360" y="1463040"/>
            <a:ext cx="1645920" cy="729234"/>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53</a:t>
            </a:r>
            <a:endParaRPr lang="en-US" sz="3600" dirty="0"/>
          </a:p>
        </p:txBody>
      </p:sp>
      <p:sp>
        <p:nvSpPr>
          <p:cNvPr id="22" name="Infra stat resources label"/>
          <p:cNvSpPr txBox="1"/>
          <p:nvPr/>
        </p:nvSpPr>
        <p:spPr>
          <a:xfrm>
            <a:off x="7452360" y="2192274"/>
            <a:ext cx="1645920" cy="464058"/>
          </a:xfrm>
          <a:prstGeom prst="rect">
            <a:avLst/>
          </a:prstGeom>
          <a:noFill/>
          <a:ln/>
        </p:spPr>
        <p:txBody>
          <a:bodyPr wrap="square" lIns="0" tIns="0" rIns="0" bIns="0" rtlCol="0" anchor="t"/>
          <a:lstStyle/>
          <a:p>
            <a:pPr indent="0" marL="0">
              <a:buNone/>
            </a:pPr>
            <a:r>
              <a:rPr lang="en-US" sz="1200" dirty="0">
                <a:solidFill>
                  <a:schemeClr val="accent6"/>
                </a:solidFill>
              </a:rPr>
              <a:t>resources created by terraform apply</a:t>
            </a:r>
            <a:endParaRPr lang="en-US" sz="1200" dirty="0"/>
          </a:p>
        </p:txBody>
      </p:sp>
      <p:sp>
        <p:nvSpPr>
          <p:cNvPr id="23" name="Infra stat cost"/>
          <p:cNvSpPr/>
          <p:nvPr/>
        </p:nvSpPr>
        <p:spPr>
          <a:xfrm>
            <a:off x="9509760" y="1325880"/>
            <a:ext cx="2103120" cy="1325880"/>
          </a:xfrm>
          <a:prstGeom prst="roundRect">
            <a:avLst>
              <a:gd name="adj" fmla="val 8276"/>
            </a:avLst>
          </a:prstGeom>
          <a:solidFill>
            <a:schemeClr val="bg2"/>
          </a:solidFill>
          <a:ln/>
        </p:spPr>
      </p:sp>
      <p:sp>
        <p:nvSpPr>
          <p:cNvPr id="24" name="Infra stat cost value"/>
          <p:cNvSpPr txBox="1"/>
          <p:nvPr/>
        </p:nvSpPr>
        <p:spPr>
          <a:xfrm>
            <a:off x="9738360" y="1463040"/>
            <a:ext cx="1645920" cy="729234"/>
          </a:xfrm>
          <a:prstGeom prst="rect">
            <a:avLst/>
          </a:prstGeom>
          <a:noFill/>
          <a:ln/>
        </p:spPr>
        <p:txBody>
          <a:bodyPr wrap="square" lIns="0" tIns="0" rIns="0" bIns="0" rtlCol="0" anchor="b"/>
          <a:lstStyle/>
          <a:p>
            <a:pPr indent="0" marL="0">
              <a:buNone/>
            </a:pPr>
            <a:r>
              <a:rPr lang="en-US" sz="3600" b="1" dirty="0">
                <a:solidFill>
                  <a:schemeClr val="accent2"/>
                </a:solidFill>
                <a:latin typeface="Cambria" pitchFamily="34" charset="0"/>
                <a:ea typeface="Cambria" pitchFamily="34" charset="-122"/>
                <a:cs typeface="Cambria" pitchFamily="34" charset="-120"/>
              </a:rPr>
              <a:t>~$0.40</a:t>
            </a:r>
            <a:endParaRPr lang="en-US" sz="3600" dirty="0"/>
          </a:p>
        </p:txBody>
      </p:sp>
      <p:sp>
        <p:nvSpPr>
          <p:cNvPr id="25" name="Infra stat cost label"/>
          <p:cNvSpPr txBox="1"/>
          <p:nvPr/>
        </p:nvSpPr>
        <p:spPr>
          <a:xfrm>
            <a:off x="9738360" y="2192274"/>
            <a:ext cx="1645920" cy="464058"/>
          </a:xfrm>
          <a:prstGeom prst="rect">
            <a:avLst/>
          </a:prstGeom>
          <a:noFill/>
          <a:ln/>
        </p:spPr>
        <p:txBody>
          <a:bodyPr wrap="square" lIns="0" tIns="0" rIns="0" bIns="0" rtlCol="0" anchor="t"/>
          <a:lstStyle/>
          <a:p>
            <a:pPr indent="0" marL="0">
              <a:buNone/>
            </a:pPr>
            <a:r>
              <a:rPr lang="en-US" sz="1200" dirty="0">
                <a:solidFill>
                  <a:schemeClr val="accent6"/>
                </a:solidFill>
              </a:rPr>
              <a:t>per hour, measured running cost</a:t>
            </a:r>
            <a:endParaRPr lang="en-US" sz="1200" dirty="0"/>
          </a:p>
        </p:txBody>
      </p:sp>
      <p:sp>
        <p:nvSpPr>
          <p:cNvPr id="26" name="Infra bullets"/>
          <p:cNvSpPr txBox="1"/>
          <p:nvPr/>
        </p:nvSpPr>
        <p:spPr>
          <a:xfrm>
            <a:off x="7223760" y="2880360"/>
            <a:ext cx="4389120" cy="3337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Modules: terraform-aws-modules/vpc 6.7.3 + eks 21.29.0</a:t>
            </a:r>
            <a:endParaRPr lang="en-US" sz="1400" dirty="0"/>
          </a:p>
          <a:p>
            <a:pPr marL="342900" indent="-342900">
              <a:spcAft>
                <a:spcPts val="600"/>
              </a:spcAft>
              <a:buSzPct val="100000"/>
              <a:buChar char="•"/>
            </a:pPr>
            <a:r>
              <a:rPr lang="en-US" sz="1400" dirty="0">
                <a:solidFill>
                  <a:schemeClr val="tx2"/>
                </a:solidFill>
              </a:rPr>
              <a:t>EKS 1.36 in standard support (extended support costs 6×)</a:t>
            </a:r>
            <a:endParaRPr lang="en-US" sz="1400" dirty="0"/>
          </a:p>
          <a:p>
            <a:pPr marL="342900" indent="-342900">
              <a:spcAft>
                <a:spcPts val="600"/>
              </a:spcAft>
              <a:buSzPct val="100000"/>
              <a:buChar char="•"/>
            </a:pPr>
            <a:r>
              <a:rPr lang="en-US" sz="1400" dirty="0">
                <a:solidFill>
                  <a:schemeClr val="tx2"/>
                </a:solidFill>
              </a:rPr>
              <a:t>Free-plan account: only Free-Tier-eligible nodes - verified with a real launch</a:t>
            </a:r>
            <a:endParaRPr lang="en-US" sz="1400" dirty="0"/>
          </a:p>
          <a:p>
            <a:pPr marL="342900" indent="-342900">
              <a:spcAft>
                <a:spcPts val="600"/>
              </a:spcAft>
              <a:buSzPct val="100000"/>
              <a:buChar char="•"/>
            </a:pPr>
            <a:r>
              <a:rPr lang="en-US" sz="1400" dirty="0">
                <a:solidFill>
                  <a:schemeClr val="tx2"/>
                </a:solidFill>
              </a:rPr>
              <a:t>No KMS key or log group, so terraform destroy leaves nothing billable</a:t>
            </a:r>
            <a:endParaRPr lang="en-US" sz="1400" dirty="0"/>
          </a:p>
          <a:p>
            <a:pPr marL="342900" indent="-342900">
              <a:spcAft>
                <a:spcPts val="600"/>
              </a:spcAft>
              <a:buSzPct val="100000"/>
              <a:buChar char="•"/>
            </a:pPr>
            <a:r>
              <a:rPr lang="en-US" sz="1400" dirty="0">
                <a:solidFill>
                  <a:schemeClr val="tx2"/>
                </a:solidFill>
              </a:rPr>
              <a:t>No credentials in code; tfvars.example documents the variables</a:t>
            </a:r>
            <a:endParaRPr lang="en-US" sz="14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Kubernetes setup</a:t>
            </a:r>
            <a:endParaRPr lang="en-US" sz="3600" dirty="0"/>
          </a:p>
        </p:txBody>
      </p:sp>
      <p:sp>
        <p:nvSpPr>
          <p:cNvPr id="3" name="K8s Helm chart careslot circle"/>
          <p:cNvSpPr/>
          <p:nvPr/>
        </p:nvSpPr>
        <p:spPr>
          <a:xfrm>
            <a:off x="548640" y="1325880"/>
            <a:ext cx="685800" cy="685800"/>
          </a:xfrm>
          <a:prstGeom prst="ellipse">
            <a:avLst/>
          </a:prstGeom>
          <a:solidFill>
            <a:schemeClr val="accent1"/>
          </a:solidFill>
          <a:ln/>
        </p:spPr>
      </p:sp>
      <p:pic>
        <p:nvPicPr>
          <p:cNvPr id="4" name="K8s Helm chart careslot icon" descr="preencoded.png">    </p:cNvPr>
          <p:cNvPicPr>
            <a:picLocks noChangeAspect="1"/>
          </p:cNvPicPr>
          <p:nvPr/>
        </p:nvPicPr>
        <p:blipFill>
          <a:blip r:embed="rId1"/>
          <a:stretch>
            <a:fillRect/>
          </a:stretch>
        </p:blipFill>
        <p:spPr>
          <a:xfrm>
            <a:off x="699516" y="1476756"/>
            <a:ext cx="384048" cy="384048"/>
          </a:xfrm>
          <a:prstGeom prst="rect">
            <a:avLst/>
          </a:prstGeom>
        </p:spPr>
      </p:pic>
      <p:sp>
        <p:nvSpPr>
          <p:cNvPr id="5" name="K8s head Helm chart careslot"/>
          <p:cNvSpPr txBox="1"/>
          <p:nvPr/>
        </p:nvSpPr>
        <p:spPr>
          <a:xfrm>
            <a:off x="1417320" y="1307592"/>
            <a:ext cx="4389120" cy="365760"/>
          </a:xfrm>
          <a:prstGeom prst="rect">
            <a:avLst/>
          </a:prstGeom>
          <a:noFill/>
          <a:ln/>
        </p:spPr>
        <p:txBody>
          <a:bodyPr wrap="square" lIns="0" tIns="0" rIns="0" bIns="0" rtlCol="0" anchor="t"/>
          <a:lstStyle/>
          <a:p>
            <a:pPr indent="0" marL="0">
              <a:buNone/>
            </a:pPr>
            <a:r>
              <a:rPr lang="en-US" sz="1700" b="1" dirty="0">
                <a:solidFill>
                  <a:schemeClr val="tx1"/>
                </a:solidFill>
              </a:rPr>
              <a:t>Helm chart careslot</a:t>
            </a:r>
            <a:endParaRPr lang="en-US" sz="1700" dirty="0"/>
          </a:p>
        </p:txBody>
      </p:sp>
      <p:sp>
        <p:nvSpPr>
          <p:cNvPr id="6" name="K8s body Helm chart careslot"/>
          <p:cNvSpPr txBox="1"/>
          <p:nvPr/>
        </p:nvSpPr>
        <p:spPr>
          <a:xfrm>
            <a:off x="1417320" y="1655064"/>
            <a:ext cx="4389120" cy="457200"/>
          </a:xfrm>
          <a:prstGeom prst="rect">
            <a:avLst/>
          </a:prstGeom>
          <a:noFill/>
          <a:ln/>
        </p:spPr>
        <p:txBody>
          <a:bodyPr wrap="square" lIns="0" tIns="0" rIns="0" bIns="0" rtlCol="0" anchor="t"/>
          <a:lstStyle/>
          <a:p>
            <a:pPr indent="0" marL="0">
              <a:buNone/>
            </a:pPr>
            <a:r>
              <a:rPr lang="en-US" sz="1300" dirty="0">
                <a:solidFill>
                  <a:schemeClr val="tx2"/>
                </a:solidFill>
              </a:rPr>
              <a:t>Deployments, ClusterIP Services, StatefulSet + PVC, probes</a:t>
            </a:r>
            <a:endParaRPr lang="en-US" sz="1300" dirty="0"/>
          </a:p>
        </p:txBody>
      </p:sp>
      <p:sp>
        <p:nvSpPr>
          <p:cNvPr id="7" name="K8s Ingress circle"/>
          <p:cNvSpPr/>
          <p:nvPr/>
        </p:nvSpPr>
        <p:spPr>
          <a:xfrm>
            <a:off x="548640" y="2286000"/>
            <a:ext cx="685800" cy="685800"/>
          </a:xfrm>
          <a:prstGeom prst="ellipse">
            <a:avLst/>
          </a:prstGeom>
          <a:solidFill>
            <a:schemeClr val="accent3"/>
          </a:solidFill>
          <a:ln/>
        </p:spPr>
      </p:sp>
      <p:pic>
        <p:nvPicPr>
          <p:cNvPr id="8" name="K8s Ingress icon" descr="preencoded.png">    </p:cNvPr>
          <p:cNvPicPr>
            <a:picLocks noChangeAspect="1"/>
          </p:cNvPicPr>
          <p:nvPr/>
        </p:nvPicPr>
        <p:blipFill>
          <a:blip r:embed="rId2"/>
          <a:stretch>
            <a:fillRect/>
          </a:stretch>
        </p:blipFill>
        <p:spPr>
          <a:xfrm>
            <a:off x="699516" y="2436876"/>
            <a:ext cx="384048" cy="384048"/>
          </a:xfrm>
          <a:prstGeom prst="rect">
            <a:avLst/>
          </a:prstGeom>
        </p:spPr>
      </p:pic>
      <p:sp>
        <p:nvSpPr>
          <p:cNvPr id="9" name="K8s head Ingress"/>
          <p:cNvSpPr txBox="1"/>
          <p:nvPr/>
        </p:nvSpPr>
        <p:spPr>
          <a:xfrm>
            <a:off x="1417320" y="2267712"/>
            <a:ext cx="4389120" cy="365760"/>
          </a:xfrm>
          <a:prstGeom prst="rect">
            <a:avLst/>
          </a:prstGeom>
          <a:noFill/>
          <a:ln/>
        </p:spPr>
        <p:txBody>
          <a:bodyPr wrap="square" lIns="0" tIns="0" rIns="0" bIns="0" rtlCol="0" anchor="t"/>
          <a:lstStyle/>
          <a:p>
            <a:pPr indent="0" marL="0">
              <a:buNone/>
            </a:pPr>
            <a:r>
              <a:rPr lang="en-US" sz="1700" b="1" dirty="0">
                <a:solidFill>
                  <a:schemeClr val="tx1"/>
                </a:solidFill>
              </a:rPr>
              <a:t>Ingress</a:t>
            </a:r>
            <a:endParaRPr lang="en-US" sz="1700" dirty="0"/>
          </a:p>
        </p:txBody>
      </p:sp>
      <p:sp>
        <p:nvSpPr>
          <p:cNvPr id="10" name="K8s body Ingress"/>
          <p:cNvSpPr txBox="1"/>
          <p:nvPr/>
        </p:nvSpPr>
        <p:spPr>
          <a:xfrm>
            <a:off x="1417320" y="2615184"/>
            <a:ext cx="4389120" cy="457200"/>
          </a:xfrm>
          <a:prstGeom prst="rect">
            <a:avLst/>
          </a:prstGeom>
          <a:noFill/>
          <a:ln/>
        </p:spPr>
        <p:txBody>
          <a:bodyPr wrap="square" lIns="0" tIns="0" rIns="0" bIns="0" rtlCol="0" anchor="t"/>
          <a:lstStyle/>
          <a:p>
            <a:pPr indent="0" marL="0">
              <a:buNone/>
            </a:pPr>
            <a:r>
              <a:rPr lang="en-US" sz="1300" dirty="0">
                <a:solidFill>
                  <a:schemeClr val="tx2"/>
                </a:solidFill>
              </a:rPr>
              <a:t>/api → backend, / → frontend, behind the AWS load balancer</a:t>
            </a:r>
            <a:endParaRPr lang="en-US" sz="1300" dirty="0"/>
          </a:p>
        </p:txBody>
      </p:sp>
      <p:sp>
        <p:nvSpPr>
          <p:cNvPr id="11" name="K8s HPA circle"/>
          <p:cNvSpPr/>
          <p:nvPr/>
        </p:nvSpPr>
        <p:spPr>
          <a:xfrm>
            <a:off x="548640" y="3246120"/>
            <a:ext cx="685800" cy="685800"/>
          </a:xfrm>
          <a:prstGeom prst="ellipse">
            <a:avLst/>
          </a:prstGeom>
          <a:solidFill>
            <a:schemeClr val="accent2"/>
          </a:solidFill>
          <a:ln/>
        </p:spPr>
      </p:sp>
      <p:pic>
        <p:nvPicPr>
          <p:cNvPr id="12" name="K8s HPA icon" descr="preencoded.png">    </p:cNvPr>
          <p:cNvPicPr>
            <a:picLocks noChangeAspect="1"/>
          </p:cNvPicPr>
          <p:nvPr/>
        </p:nvPicPr>
        <p:blipFill>
          <a:blip r:embed="rId3"/>
          <a:stretch>
            <a:fillRect/>
          </a:stretch>
        </p:blipFill>
        <p:spPr>
          <a:xfrm>
            <a:off x="699516" y="3396996"/>
            <a:ext cx="384048" cy="384048"/>
          </a:xfrm>
          <a:prstGeom prst="rect">
            <a:avLst/>
          </a:prstGeom>
        </p:spPr>
      </p:pic>
      <p:sp>
        <p:nvSpPr>
          <p:cNvPr id="13" name="K8s head HPA"/>
          <p:cNvSpPr txBox="1"/>
          <p:nvPr/>
        </p:nvSpPr>
        <p:spPr>
          <a:xfrm>
            <a:off x="1417320" y="3227832"/>
            <a:ext cx="4389120" cy="365760"/>
          </a:xfrm>
          <a:prstGeom prst="rect">
            <a:avLst/>
          </a:prstGeom>
          <a:noFill/>
          <a:ln/>
        </p:spPr>
        <p:txBody>
          <a:bodyPr wrap="square" lIns="0" tIns="0" rIns="0" bIns="0" rtlCol="0" anchor="t"/>
          <a:lstStyle/>
          <a:p>
            <a:pPr indent="0" marL="0">
              <a:buNone/>
            </a:pPr>
            <a:r>
              <a:rPr lang="en-US" sz="1700" b="1" dirty="0">
                <a:solidFill>
                  <a:schemeClr val="tx1"/>
                </a:solidFill>
              </a:rPr>
              <a:t>HPA</a:t>
            </a:r>
            <a:endParaRPr lang="en-US" sz="1700" dirty="0"/>
          </a:p>
        </p:txBody>
      </p:sp>
      <p:sp>
        <p:nvSpPr>
          <p:cNvPr id="14" name="K8s body HPA"/>
          <p:cNvSpPr txBox="1"/>
          <p:nvPr/>
        </p:nvSpPr>
        <p:spPr>
          <a:xfrm>
            <a:off x="1417320" y="3575304"/>
            <a:ext cx="4389120" cy="457200"/>
          </a:xfrm>
          <a:prstGeom prst="rect">
            <a:avLst/>
          </a:prstGeom>
          <a:noFill/>
          <a:ln/>
        </p:spPr>
        <p:txBody>
          <a:bodyPr wrap="square" lIns="0" tIns="0" rIns="0" bIns="0" rtlCol="0" anchor="t"/>
          <a:lstStyle/>
          <a:p>
            <a:pPr indent="0" marL="0">
              <a:buNone/>
            </a:pPr>
            <a:r>
              <a:rPr lang="en-US" sz="1300" dirty="0">
                <a:solidFill>
                  <a:schemeClr val="tx2"/>
                </a:solidFill>
              </a:rPr>
              <a:t>backend 2-6 Pods on CPU 60 %</a:t>
            </a:r>
            <a:endParaRPr lang="en-US" sz="1300" dirty="0"/>
          </a:p>
        </p:txBody>
      </p:sp>
      <p:sp>
        <p:nvSpPr>
          <p:cNvPr id="15" name="K8s Argo CD (GitOps) circle"/>
          <p:cNvSpPr/>
          <p:nvPr/>
        </p:nvSpPr>
        <p:spPr>
          <a:xfrm>
            <a:off x="548640" y="4206240"/>
            <a:ext cx="685800" cy="685800"/>
          </a:xfrm>
          <a:prstGeom prst="ellipse">
            <a:avLst/>
          </a:prstGeom>
          <a:solidFill>
            <a:schemeClr val="accent5"/>
          </a:solidFill>
          <a:ln/>
        </p:spPr>
      </p:sp>
      <p:pic>
        <p:nvPicPr>
          <p:cNvPr id="16" name="K8s Argo CD (GitOps) icon" descr="preencoded.png">    </p:cNvPr>
          <p:cNvPicPr>
            <a:picLocks noChangeAspect="1"/>
          </p:cNvPicPr>
          <p:nvPr/>
        </p:nvPicPr>
        <p:blipFill>
          <a:blip r:embed="rId4"/>
          <a:stretch>
            <a:fillRect/>
          </a:stretch>
        </p:blipFill>
        <p:spPr>
          <a:xfrm>
            <a:off x="699516" y="4357116"/>
            <a:ext cx="384048" cy="384048"/>
          </a:xfrm>
          <a:prstGeom prst="rect">
            <a:avLst/>
          </a:prstGeom>
        </p:spPr>
      </p:pic>
      <p:sp>
        <p:nvSpPr>
          <p:cNvPr id="17" name="K8s head Argo CD (GitOps)"/>
          <p:cNvSpPr txBox="1"/>
          <p:nvPr/>
        </p:nvSpPr>
        <p:spPr>
          <a:xfrm>
            <a:off x="1417320" y="4187952"/>
            <a:ext cx="4389120" cy="365760"/>
          </a:xfrm>
          <a:prstGeom prst="rect">
            <a:avLst/>
          </a:prstGeom>
          <a:noFill/>
          <a:ln/>
        </p:spPr>
        <p:txBody>
          <a:bodyPr wrap="square" lIns="0" tIns="0" rIns="0" bIns="0" rtlCol="0" anchor="t"/>
          <a:lstStyle/>
          <a:p>
            <a:pPr indent="0" marL="0">
              <a:buNone/>
            </a:pPr>
            <a:r>
              <a:rPr lang="en-US" sz="1700" b="1" dirty="0">
                <a:solidFill>
                  <a:schemeClr val="tx1"/>
                </a:solidFill>
              </a:rPr>
              <a:t>Argo CD (GitOps)</a:t>
            </a:r>
            <a:endParaRPr lang="en-US" sz="1700" dirty="0"/>
          </a:p>
        </p:txBody>
      </p:sp>
      <p:sp>
        <p:nvSpPr>
          <p:cNvPr id="18" name="K8s body Argo CD (GitOps)"/>
          <p:cNvSpPr txBox="1"/>
          <p:nvPr/>
        </p:nvSpPr>
        <p:spPr>
          <a:xfrm>
            <a:off x="1417320" y="4535424"/>
            <a:ext cx="4389120" cy="457200"/>
          </a:xfrm>
          <a:prstGeom prst="rect">
            <a:avLst/>
          </a:prstGeom>
          <a:noFill/>
          <a:ln/>
        </p:spPr>
        <p:txBody>
          <a:bodyPr wrap="square" lIns="0" tIns="0" rIns="0" bIns="0" rtlCol="0" anchor="t"/>
          <a:lstStyle/>
          <a:p>
            <a:pPr indent="0" marL="0">
              <a:buNone/>
            </a:pPr>
            <a:r>
              <a:rPr lang="en-US" sz="1300" dirty="0">
                <a:solidFill>
                  <a:schemeClr val="tx2"/>
                </a:solidFill>
              </a:rPr>
              <a:t>automated sync, prune and self-heal from Git</a:t>
            </a:r>
            <a:endParaRPr lang="en-US" sz="1300" dirty="0"/>
          </a:p>
        </p:txBody>
      </p:sp>
      <p:sp>
        <p:nvSpPr>
          <p:cNvPr id="19" name="K8s Hardening circle"/>
          <p:cNvSpPr/>
          <p:nvPr/>
        </p:nvSpPr>
        <p:spPr>
          <a:xfrm>
            <a:off x="548640" y="5166360"/>
            <a:ext cx="685800" cy="685800"/>
          </a:xfrm>
          <a:prstGeom prst="ellipse">
            <a:avLst/>
          </a:prstGeom>
          <a:solidFill>
            <a:schemeClr val="tx2"/>
          </a:solidFill>
          <a:ln/>
        </p:spPr>
      </p:sp>
      <p:pic>
        <p:nvPicPr>
          <p:cNvPr id="20" name="K8s Hardening icon" descr="preencoded.png">    </p:cNvPr>
          <p:cNvPicPr>
            <a:picLocks noChangeAspect="1"/>
          </p:cNvPicPr>
          <p:nvPr/>
        </p:nvPicPr>
        <p:blipFill>
          <a:blip r:embed="rId5"/>
          <a:stretch>
            <a:fillRect/>
          </a:stretch>
        </p:blipFill>
        <p:spPr>
          <a:xfrm>
            <a:off x="699516" y="5317236"/>
            <a:ext cx="384048" cy="384048"/>
          </a:xfrm>
          <a:prstGeom prst="rect">
            <a:avLst/>
          </a:prstGeom>
        </p:spPr>
      </p:pic>
      <p:sp>
        <p:nvSpPr>
          <p:cNvPr id="21" name="K8s head Hardening"/>
          <p:cNvSpPr txBox="1"/>
          <p:nvPr/>
        </p:nvSpPr>
        <p:spPr>
          <a:xfrm>
            <a:off x="1417320" y="5148072"/>
            <a:ext cx="4389120" cy="365760"/>
          </a:xfrm>
          <a:prstGeom prst="rect">
            <a:avLst/>
          </a:prstGeom>
          <a:noFill/>
          <a:ln/>
        </p:spPr>
        <p:txBody>
          <a:bodyPr wrap="square" lIns="0" tIns="0" rIns="0" bIns="0" rtlCol="0" anchor="t"/>
          <a:lstStyle/>
          <a:p>
            <a:pPr indent="0" marL="0">
              <a:buNone/>
            </a:pPr>
            <a:r>
              <a:rPr lang="en-US" sz="1700" b="1" dirty="0">
                <a:solidFill>
                  <a:schemeClr val="tx1"/>
                </a:solidFill>
              </a:rPr>
              <a:t>Hardening</a:t>
            </a:r>
            <a:endParaRPr lang="en-US" sz="1700" dirty="0"/>
          </a:p>
        </p:txBody>
      </p:sp>
      <p:sp>
        <p:nvSpPr>
          <p:cNvPr id="22" name="K8s body Hardening"/>
          <p:cNvSpPr txBox="1"/>
          <p:nvPr/>
        </p:nvSpPr>
        <p:spPr>
          <a:xfrm>
            <a:off x="1417320" y="5495544"/>
            <a:ext cx="4389120" cy="457200"/>
          </a:xfrm>
          <a:prstGeom prst="rect">
            <a:avLst/>
          </a:prstGeom>
          <a:noFill/>
          <a:ln/>
        </p:spPr>
        <p:txBody>
          <a:bodyPr wrap="square" lIns="0" tIns="0" rIns="0" bIns="0" rtlCol="0" anchor="t"/>
          <a:lstStyle/>
          <a:p>
            <a:pPr indent="0" marL="0">
              <a:buNone/>
            </a:pPr>
            <a:r>
              <a:rPr lang="en-US" sz="1300" dirty="0">
                <a:solidFill>
                  <a:schemeClr val="tx2"/>
                </a:solidFill>
              </a:rPr>
              <a:t>non-root, capabilities dropped, Pod Security restricted</a:t>
            </a:r>
            <a:endParaRPr lang="en-US" sz="1300" dirty="0"/>
          </a:p>
        </p:txBody>
      </p:sp>
      <p:sp>
        <p:nvSpPr>
          <p:cNvPr id="23" name="HPA head"/>
          <p:cNvSpPr txBox="1"/>
          <p:nvPr/>
        </p:nvSpPr>
        <p:spPr>
          <a:xfrm>
            <a:off x="6217920" y="1325880"/>
            <a:ext cx="539496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Autoscaling, measured</a:t>
            </a:r>
            <a:endParaRPr lang="en-US" sz="2000" dirty="0"/>
          </a:p>
        </p:txBody>
      </p:sp>
      <p:pic>
        <p:nvPicPr>
          <p:cNvPr id="24" name="HPA screenshot" descr="C:\Users\Asus\AppData\Local\Temp\claude\C--Users-Asus-Documents-3rd-year-term-1-devops-nency-mam\68230852-859c-4662-bacc-99c8e7e44c13\scratchpad\deck\img\m8-hpa-scaling.png">    </p:cNvPr>
          <p:cNvPicPr>
            <a:picLocks noChangeAspect="1"/>
          </p:cNvPicPr>
          <p:nvPr/>
        </p:nvPicPr>
        <p:blipFill>
          <a:blip r:embed="rId6"/>
          <a:stretch>
            <a:fillRect/>
          </a:stretch>
        </p:blipFill>
        <p:spPr>
          <a:xfrm>
            <a:off x="6217920" y="1828800"/>
            <a:ext cx="5394960" cy="1267613"/>
          </a:xfrm>
          <a:prstGeom prst="rect">
            <a:avLst/>
          </a:prstGeom>
        </p:spPr>
      </p:pic>
      <p:sp>
        <p:nvSpPr>
          <p:cNvPr id="25" name="HPA stat"/>
          <p:cNvSpPr/>
          <p:nvPr/>
        </p:nvSpPr>
        <p:spPr>
          <a:xfrm>
            <a:off x="6217920" y="3337560"/>
            <a:ext cx="2560320" cy="1325880"/>
          </a:xfrm>
          <a:prstGeom prst="roundRect">
            <a:avLst>
              <a:gd name="adj" fmla="val 8276"/>
            </a:avLst>
          </a:prstGeom>
          <a:solidFill>
            <a:schemeClr val="bg2"/>
          </a:solidFill>
          <a:ln/>
        </p:spPr>
      </p:sp>
      <p:sp>
        <p:nvSpPr>
          <p:cNvPr id="26" name="HPA stat value"/>
          <p:cNvSpPr txBox="1"/>
          <p:nvPr/>
        </p:nvSpPr>
        <p:spPr>
          <a:xfrm>
            <a:off x="6446520" y="3474720"/>
            <a:ext cx="2103120" cy="729234"/>
          </a:xfrm>
          <a:prstGeom prst="rect">
            <a:avLst/>
          </a:prstGeom>
          <a:noFill/>
          <a:ln/>
        </p:spPr>
        <p:txBody>
          <a:bodyPr wrap="square" lIns="0" tIns="0" rIns="0" bIns="0" rtlCol="0" anchor="b"/>
          <a:lstStyle/>
          <a:p>
            <a:pPr indent="0" marL="0">
              <a:buNone/>
            </a:pPr>
            <a:r>
              <a:rPr lang="en-US" sz="3600" b="1" dirty="0">
                <a:solidFill>
                  <a:schemeClr val="accent2"/>
                </a:solidFill>
                <a:latin typeface="Cambria" pitchFamily="34" charset="0"/>
                <a:ea typeface="Cambria" pitchFamily="34" charset="-122"/>
                <a:cs typeface="Cambria" pitchFamily="34" charset="-120"/>
              </a:rPr>
              <a:t>2 → 6</a:t>
            </a:r>
            <a:endParaRPr lang="en-US" sz="3600" dirty="0"/>
          </a:p>
        </p:txBody>
      </p:sp>
      <p:sp>
        <p:nvSpPr>
          <p:cNvPr id="27" name="HPA stat label"/>
          <p:cNvSpPr txBox="1"/>
          <p:nvPr/>
        </p:nvSpPr>
        <p:spPr>
          <a:xfrm>
            <a:off x="6446520" y="4203954"/>
            <a:ext cx="2103120" cy="464058"/>
          </a:xfrm>
          <a:prstGeom prst="rect">
            <a:avLst/>
          </a:prstGeom>
          <a:noFill/>
          <a:ln/>
        </p:spPr>
        <p:txBody>
          <a:bodyPr wrap="square" lIns="0" tIns="0" rIns="0" bIns="0" rtlCol="0" anchor="t"/>
          <a:lstStyle/>
          <a:p>
            <a:pPr indent="0" marL="0">
              <a:buNone/>
            </a:pPr>
            <a:r>
              <a:rPr lang="en-US" sz="1200" dirty="0">
                <a:solidFill>
                  <a:schemeClr val="accent6"/>
                </a:solidFill>
              </a:rPr>
              <a:t>backend Pods when CPU reached 424 % of request</a:t>
            </a:r>
            <a:endParaRPr lang="en-US" sz="1200" dirty="0"/>
          </a:p>
        </p:txBody>
      </p:sp>
      <p:sp>
        <p:nvSpPr>
          <p:cNvPr id="28" name="Argo stat"/>
          <p:cNvSpPr/>
          <p:nvPr/>
        </p:nvSpPr>
        <p:spPr>
          <a:xfrm>
            <a:off x="9052560" y="3337560"/>
            <a:ext cx="2560320" cy="1325880"/>
          </a:xfrm>
          <a:prstGeom prst="roundRect">
            <a:avLst>
              <a:gd name="adj" fmla="val 8276"/>
            </a:avLst>
          </a:prstGeom>
          <a:solidFill>
            <a:schemeClr val="bg2"/>
          </a:solidFill>
          <a:ln/>
        </p:spPr>
      </p:sp>
      <p:sp>
        <p:nvSpPr>
          <p:cNvPr id="29" name="Argo stat value"/>
          <p:cNvSpPr txBox="1"/>
          <p:nvPr/>
        </p:nvSpPr>
        <p:spPr>
          <a:xfrm>
            <a:off x="9281160" y="3474720"/>
            <a:ext cx="2103120" cy="729234"/>
          </a:xfrm>
          <a:prstGeom prst="rect">
            <a:avLst/>
          </a:prstGeom>
          <a:noFill/>
          <a:ln/>
        </p:spPr>
        <p:txBody>
          <a:bodyPr wrap="square" lIns="0" tIns="0" rIns="0" bIns="0" rtlCol="0" anchor="b"/>
          <a:lstStyle/>
          <a:p>
            <a:pPr indent="0" marL="0">
              <a:buNone/>
            </a:pPr>
            <a:r>
              <a:rPr lang="en-US" sz="3600" b="1" dirty="0">
                <a:solidFill>
                  <a:schemeClr val="accent4"/>
                </a:solidFill>
                <a:latin typeface="Cambria" pitchFamily="34" charset="0"/>
                <a:ea typeface="Cambria" pitchFamily="34" charset="-122"/>
                <a:cs typeface="Cambria" pitchFamily="34" charset="-120"/>
              </a:rPr>
              <a:t>Synced</a:t>
            </a:r>
            <a:endParaRPr lang="en-US" sz="3600" dirty="0"/>
          </a:p>
        </p:txBody>
      </p:sp>
      <p:sp>
        <p:nvSpPr>
          <p:cNvPr id="30" name="Argo stat label"/>
          <p:cNvSpPr txBox="1"/>
          <p:nvPr/>
        </p:nvSpPr>
        <p:spPr>
          <a:xfrm>
            <a:off x="9281160" y="4203954"/>
            <a:ext cx="2103120" cy="464058"/>
          </a:xfrm>
          <a:prstGeom prst="rect">
            <a:avLst/>
          </a:prstGeom>
          <a:noFill/>
          <a:ln/>
        </p:spPr>
        <p:txBody>
          <a:bodyPr wrap="square" lIns="0" tIns="0" rIns="0" bIns="0" rtlCol="0" anchor="t"/>
          <a:lstStyle/>
          <a:p>
            <a:pPr indent="0" marL="0">
              <a:buNone/>
            </a:pPr>
            <a:r>
              <a:rPr lang="en-US" sz="1200" dirty="0">
                <a:solidFill>
                  <a:schemeClr val="accent6"/>
                </a:solidFill>
              </a:rPr>
              <a:t>Argo CD Application · Healthy</a:t>
            </a:r>
            <a:endParaRPr lang="en-US" sz="1200" dirty="0"/>
          </a:p>
        </p:txBody>
      </p:sp>
      <p:sp>
        <p:nvSpPr>
          <p:cNvPr id="31" name="Envs caption"/>
          <p:cNvSpPr txBox="1"/>
          <p:nvPr/>
        </p:nvSpPr>
        <p:spPr>
          <a:xfrm>
            <a:off x="6217920" y="4937760"/>
            <a:ext cx="5394960" cy="457200"/>
          </a:xfrm>
          <a:prstGeom prst="rect">
            <a:avLst/>
          </a:prstGeom>
          <a:noFill/>
          <a:ln/>
        </p:spPr>
        <p:txBody>
          <a:bodyPr wrap="square" lIns="0" tIns="0" rIns="0" bIns="0" rtlCol="0" anchor="t"/>
          <a:lstStyle/>
          <a:p>
            <a:pPr indent="0" marL="0">
              <a:buNone/>
            </a:pPr>
            <a:r>
              <a:rPr lang="en-US" sz="1300" dirty="0">
                <a:solidFill>
                  <a:schemeClr val="accent6"/>
                </a:solidFill>
              </a:rPr>
              <a:t>Local: minikube + plain Helm · AWS: EKS + Argo CD</a:t>
            </a:r>
            <a:endParaRPr lang="en-US" sz="13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Observability</a:t>
            </a:r>
            <a:endParaRPr lang="en-US" sz="3600" dirty="0"/>
          </a:p>
        </p:txBody>
      </p:sp>
      <p:pic>
        <p:nvPicPr>
          <p:cNvPr id="3" name="Grafana screenshot" descr="C:\Users\Asus\AppData\Local\Temp\claude\C--Users-Asus-Documents-3rd-year-term-1-devops-nency-mam\68230852-859c-4662-bacc-99c8e7e44c13\scratchpad\deck\img\m9-grafana.png">    </p:cNvPr>
          <p:cNvPicPr>
            <a:picLocks noChangeAspect="1"/>
          </p:cNvPicPr>
          <p:nvPr/>
        </p:nvPicPr>
        <p:blipFill>
          <a:blip r:embed="rId1"/>
          <a:stretch>
            <a:fillRect/>
          </a:stretch>
        </p:blipFill>
        <p:spPr>
          <a:xfrm>
            <a:off x="548640" y="1325880"/>
            <a:ext cx="7406640" cy="4005754"/>
          </a:xfrm>
          <a:prstGeom prst="rect">
            <a:avLst/>
          </a:prstGeom>
        </p:spPr>
      </p:pic>
      <p:sp>
        <p:nvSpPr>
          <p:cNvPr id="4" name="Observability bullets"/>
          <p:cNvSpPr txBox="1"/>
          <p:nvPr/>
        </p:nvSpPr>
        <p:spPr>
          <a:xfrm>
            <a:off x="8229600" y="1325880"/>
            <a:ext cx="3383280" cy="4023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FastAPI exposes /metrics (Prometheus format)</a:t>
            </a:r>
            <a:endParaRPr lang="en-US" sz="1400" dirty="0"/>
          </a:p>
          <a:p>
            <a:pPr marL="342900" indent="-342900">
              <a:spcAft>
                <a:spcPts val="600"/>
              </a:spcAft>
              <a:buSzPct val="100000"/>
              <a:buChar char="•"/>
            </a:pPr>
            <a:r>
              <a:rPr lang="en-US" sz="1500" dirty="0">
                <a:solidFill>
                  <a:schemeClr val="tx2"/>
                </a:solidFill>
              </a:rPr>
              <a:t>A ServiceMonitor makes Prometheus scrape every backend Pod - targets UP</a:t>
            </a:r>
            <a:endParaRPr lang="en-US" sz="1400" dirty="0"/>
          </a:p>
          <a:p>
            <a:pPr marL="342900" indent="-342900">
              <a:spcAft>
                <a:spcPts val="600"/>
              </a:spcAft>
              <a:buSzPct val="100000"/>
              <a:buChar char="•"/>
            </a:pPr>
            <a:r>
              <a:rPr lang="en-US" sz="1500" dirty="0">
                <a:solidFill>
                  <a:schemeClr val="tx2"/>
                </a:solidFill>
              </a:rPr>
              <a:t>Grafana dashboard: requests/s, p95 latency, 5xx error rate, Pods, CPU</a:t>
            </a:r>
            <a:endParaRPr lang="en-US" sz="1400" dirty="0"/>
          </a:p>
          <a:p>
            <a:pPr marL="342900" indent="-342900">
              <a:spcAft>
                <a:spcPts val="600"/>
              </a:spcAft>
              <a:buSzPct val="100000"/>
              <a:buChar char="•"/>
            </a:pPr>
            <a:r>
              <a:rPr lang="en-US" sz="1500" dirty="0">
                <a:solidFill>
                  <a:schemeClr val="tx2"/>
                </a:solidFill>
              </a:rPr>
              <a:t>Installed with kube-prometheus-stack; dashboard shipped in the Helm chart</a:t>
            </a:r>
            <a:endParaRPr lang="en-US" sz="1400" dirty="0"/>
          </a:p>
        </p:txBody>
      </p:sp>
      <p:sp>
        <p:nvSpPr>
          <p:cNvPr id="5" name="Grafana caption"/>
          <p:cNvSpPr txBox="1"/>
          <p:nvPr/>
        </p:nvSpPr>
        <p:spPr>
          <a:xfrm>
            <a:off x="548640" y="5532120"/>
            <a:ext cx="7040880" cy="365760"/>
          </a:xfrm>
          <a:prstGeom prst="rect">
            <a:avLst/>
          </a:prstGeom>
          <a:noFill/>
          <a:ln/>
        </p:spPr>
        <p:txBody>
          <a:bodyPr wrap="square" lIns="0" tIns="0" rIns="0" bIns="0" rtlCol="0" anchor="t"/>
          <a:lstStyle/>
          <a:p>
            <a:pPr indent="0" marL="0">
              <a:buNone/>
            </a:pPr>
            <a:r>
              <a:rPr lang="en-US" sz="1300" i="1" dirty="0">
                <a:solidFill>
                  <a:schemeClr val="accent1"/>
                </a:solidFill>
              </a:rPr>
              <a:t>Under load: 19 req/s, 0.00 % errors, 6 backend Pods</a:t>
            </a:r>
            <a:endParaRPr lang="en-US" sz="13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Security in the pipeline</a:t>
            </a:r>
            <a:endParaRPr lang="en-US" sz="3600" dirty="0"/>
          </a:p>
        </p:txBody>
      </p:sp>
      <p:sp>
        <p:nvSpPr>
          <p:cNvPr id="3" name="Sec stat cve"/>
          <p:cNvSpPr/>
          <p:nvPr/>
        </p:nvSpPr>
        <p:spPr>
          <a:xfrm>
            <a:off x="548640" y="1325880"/>
            <a:ext cx="3520440" cy="1463040"/>
          </a:xfrm>
          <a:prstGeom prst="roundRect">
            <a:avLst>
              <a:gd name="adj" fmla="val 7500"/>
            </a:avLst>
          </a:prstGeom>
          <a:solidFill>
            <a:schemeClr val="bg2"/>
          </a:solidFill>
          <a:ln/>
        </p:spPr>
      </p:sp>
      <p:sp>
        <p:nvSpPr>
          <p:cNvPr id="4" name="Sec stat cve value"/>
          <p:cNvSpPr txBox="1"/>
          <p:nvPr/>
        </p:nvSpPr>
        <p:spPr>
          <a:xfrm>
            <a:off x="777240" y="1463040"/>
            <a:ext cx="3063240" cy="804672"/>
          </a:xfrm>
          <a:prstGeom prst="rect">
            <a:avLst/>
          </a:prstGeom>
          <a:noFill/>
          <a:ln/>
        </p:spPr>
        <p:txBody>
          <a:bodyPr wrap="square" lIns="0" tIns="0" rIns="0" bIns="0" rtlCol="0" anchor="b"/>
          <a:lstStyle/>
          <a:p>
            <a:pPr indent="0" marL="0">
              <a:buNone/>
            </a:pPr>
            <a:r>
              <a:rPr lang="en-US" sz="3600" b="1" dirty="0">
                <a:solidFill>
                  <a:schemeClr val="accent5"/>
                </a:solidFill>
                <a:latin typeface="Cambria" pitchFamily="34" charset="0"/>
                <a:ea typeface="Cambria" pitchFamily="34" charset="-122"/>
                <a:cs typeface="Cambria" pitchFamily="34" charset="-120"/>
              </a:rPr>
              <a:t>44 → 0</a:t>
            </a:r>
            <a:endParaRPr lang="en-US" sz="3600" dirty="0"/>
          </a:p>
        </p:txBody>
      </p:sp>
      <p:sp>
        <p:nvSpPr>
          <p:cNvPr id="5" name="Sec stat cve label"/>
          <p:cNvSpPr txBox="1"/>
          <p:nvPr/>
        </p:nvSpPr>
        <p:spPr>
          <a:xfrm>
            <a:off x="777240" y="2267712"/>
            <a:ext cx="3063240" cy="512064"/>
          </a:xfrm>
          <a:prstGeom prst="rect">
            <a:avLst/>
          </a:prstGeom>
          <a:noFill/>
          <a:ln/>
        </p:spPr>
        <p:txBody>
          <a:bodyPr wrap="square" lIns="0" tIns="0" rIns="0" bIns="0" rtlCol="0" anchor="t"/>
          <a:lstStyle/>
          <a:p>
            <a:pPr indent="0" marL="0">
              <a:buNone/>
            </a:pPr>
            <a:r>
              <a:rPr lang="en-US" sz="1200" dirty="0">
                <a:solidFill>
                  <a:schemeClr val="accent6"/>
                </a:solidFill>
              </a:rPr>
              <a:t>HIGH CVEs in the backend image (Debian → Alpine, pip removed)</a:t>
            </a:r>
            <a:endParaRPr lang="en-US" sz="1200" dirty="0"/>
          </a:p>
        </p:txBody>
      </p:sp>
      <p:sp>
        <p:nvSpPr>
          <p:cNvPr id="6" name="Sec stat leaks"/>
          <p:cNvSpPr/>
          <p:nvPr/>
        </p:nvSpPr>
        <p:spPr>
          <a:xfrm>
            <a:off x="4343400" y="1325880"/>
            <a:ext cx="3520440" cy="1463040"/>
          </a:xfrm>
          <a:prstGeom prst="roundRect">
            <a:avLst>
              <a:gd name="adj" fmla="val 7500"/>
            </a:avLst>
          </a:prstGeom>
          <a:solidFill>
            <a:schemeClr val="bg2"/>
          </a:solidFill>
          <a:ln/>
        </p:spPr>
      </p:sp>
      <p:sp>
        <p:nvSpPr>
          <p:cNvPr id="7" name="Sec stat leaks value"/>
          <p:cNvSpPr txBox="1"/>
          <p:nvPr/>
        </p:nvSpPr>
        <p:spPr>
          <a:xfrm>
            <a:off x="4572000" y="1463040"/>
            <a:ext cx="3063240" cy="804672"/>
          </a:xfrm>
          <a:prstGeom prst="rect">
            <a:avLst/>
          </a:prstGeom>
          <a:noFill/>
          <a:ln/>
        </p:spPr>
        <p:txBody>
          <a:bodyPr wrap="square" lIns="0" tIns="0" rIns="0" bIns="0" rtlCol="0" anchor="b"/>
          <a:lstStyle/>
          <a:p>
            <a:pPr indent="0" marL="0">
              <a:buNone/>
            </a:pPr>
            <a:r>
              <a:rPr lang="en-US" sz="3600" b="1" dirty="0">
                <a:solidFill>
                  <a:schemeClr val="accent2"/>
                </a:solidFill>
                <a:latin typeface="Cambria" pitchFamily="34" charset="0"/>
                <a:ea typeface="Cambria" pitchFamily="34" charset="-122"/>
                <a:cs typeface="Cambria" pitchFamily="34" charset="-120"/>
              </a:rPr>
              <a:t>5 → 0</a:t>
            </a:r>
            <a:endParaRPr lang="en-US" sz="3600" dirty="0"/>
          </a:p>
        </p:txBody>
      </p:sp>
      <p:sp>
        <p:nvSpPr>
          <p:cNvPr id="8" name="Sec stat leaks label"/>
          <p:cNvSpPr txBox="1"/>
          <p:nvPr/>
        </p:nvSpPr>
        <p:spPr>
          <a:xfrm>
            <a:off x="4572000" y="2267712"/>
            <a:ext cx="3063240" cy="512064"/>
          </a:xfrm>
          <a:prstGeom prst="rect">
            <a:avLst/>
          </a:prstGeom>
          <a:noFill/>
          <a:ln/>
        </p:spPr>
        <p:txBody>
          <a:bodyPr wrap="square" lIns="0" tIns="0" rIns="0" bIns="0" rtlCol="0" anchor="t"/>
          <a:lstStyle/>
          <a:p>
            <a:pPr indent="0" marL="0">
              <a:buNone/>
            </a:pPr>
            <a:r>
              <a:rPr lang="en-US" sz="1200" dirty="0">
                <a:solidFill>
                  <a:schemeClr val="accent6"/>
                </a:solidFill>
              </a:rPr>
              <a:t>gitleaks findings in the full git history (reviewed demo strings)</a:t>
            </a:r>
            <a:endParaRPr lang="en-US" sz="1200" dirty="0"/>
          </a:p>
        </p:txBody>
      </p:sp>
      <p:sp>
        <p:nvSpPr>
          <p:cNvPr id="9" name="Sec stat nonroot"/>
          <p:cNvSpPr/>
          <p:nvPr/>
        </p:nvSpPr>
        <p:spPr>
          <a:xfrm>
            <a:off x="8138160" y="1325880"/>
            <a:ext cx="3520440" cy="1463040"/>
          </a:xfrm>
          <a:prstGeom prst="roundRect">
            <a:avLst>
              <a:gd name="adj" fmla="val 7500"/>
            </a:avLst>
          </a:prstGeom>
          <a:solidFill>
            <a:schemeClr val="bg2"/>
          </a:solidFill>
          <a:ln/>
        </p:spPr>
      </p:sp>
      <p:sp>
        <p:nvSpPr>
          <p:cNvPr id="10" name="Sec stat nonroot value"/>
          <p:cNvSpPr txBox="1"/>
          <p:nvPr/>
        </p:nvSpPr>
        <p:spPr>
          <a:xfrm>
            <a:off x="8366760" y="1463040"/>
            <a:ext cx="3063240" cy="804672"/>
          </a:xfrm>
          <a:prstGeom prst="rect">
            <a:avLst/>
          </a:prstGeom>
          <a:noFill/>
          <a:ln/>
        </p:spPr>
        <p:txBody>
          <a:bodyPr wrap="square" lIns="0" tIns="0" rIns="0" bIns="0" rtlCol="0" anchor="b"/>
          <a:lstStyle/>
          <a:p>
            <a:pPr indent="0" marL="0">
              <a:buNone/>
            </a:pPr>
            <a:r>
              <a:rPr lang="en-US" sz="3600" b="1" dirty="0">
                <a:solidFill>
                  <a:schemeClr val="accent4"/>
                </a:solidFill>
                <a:latin typeface="Cambria" pitchFamily="34" charset="0"/>
                <a:ea typeface="Cambria" pitchFamily="34" charset="-122"/>
                <a:cs typeface="Cambria" pitchFamily="34" charset="-120"/>
              </a:rPr>
              <a:t>3 / 3</a:t>
            </a:r>
            <a:endParaRPr lang="en-US" sz="3600" dirty="0"/>
          </a:p>
        </p:txBody>
      </p:sp>
      <p:sp>
        <p:nvSpPr>
          <p:cNvPr id="11" name="Sec stat nonroot label"/>
          <p:cNvSpPr txBox="1"/>
          <p:nvPr/>
        </p:nvSpPr>
        <p:spPr>
          <a:xfrm>
            <a:off x="8366760" y="2267712"/>
            <a:ext cx="3063240" cy="512064"/>
          </a:xfrm>
          <a:prstGeom prst="rect">
            <a:avLst/>
          </a:prstGeom>
          <a:noFill/>
          <a:ln/>
        </p:spPr>
        <p:txBody>
          <a:bodyPr wrap="square" lIns="0" tIns="0" rIns="0" bIns="0" rtlCol="0" anchor="t"/>
          <a:lstStyle/>
          <a:p>
            <a:pPr indent="0" marL="0">
              <a:buNone/>
            </a:pPr>
            <a:r>
              <a:rPr lang="en-US" sz="1200" dirty="0">
                <a:solidFill>
                  <a:schemeClr val="accent6"/>
                </a:solidFill>
              </a:rPr>
              <a:t>containers run as non-root (uid 10001, 101, 70)</a:t>
            </a:r>
            <a:endParaRPr lang="en-US" sz="1200" dirty="0"/>
          </a:p>
        </p:txBody>
      </p:sp>
      <p:sp>
        <p:nvSpPr>
          <p:cNvPr id="12" name="Sec shield circle"/>
          <p:cNvSpPr/>
          <p:nvPr/>
        </p:nvSpPr>
        <p:spPr>
          <a:xfrm>
            <a:off x="548640" y="3200400"/>
            <a:ext cx="685800" cy="685800"/>
          </a:xfrm>
          <a:prstGeom prst="ellipse">
            <a:avLst/>
          </a:prstGeom>
          <a:solidFill>
            <a:schemeClr val="accent1"/>
          </a:solidFill>
          <a:ln/>
        </p:spPr>
      </p:sp>
      <p:pic>
        <p:nvPicPr>
          <p:cNvPr id="13" name="Sec shield icon" descr="preencoded.png">    </p:cNvPr>
          <p:cNvPicPr>
            <a:picLocks noChangeAspect="1"/>
          </p:cNvPicPr>
          <p:nvPr/>
        </p:nvPicPr>
        <p:blipFill>
          <a:blip r:embed="rId1"/>
          <a:stretch>
            <a:fillRect/>
          </a:stretch>
        </p:blipFill>
        <p:spPr>
          <a:xfrm>
            <a:off x="699516" y="3351276"/>
            <a:ext cx="384048" cy="384048"/>
          </a:xfrm>
          <a:prstGeom prst="rect">
            <a:avLst/>
          </a:prstGeom>
        </p:spPr>
      </p:pic>
      <p:sp>
        <p:nvSpPr>
          <p:cNvPr id="14" name="Security bullets"/>
          <p:cNvSpPr txBox="1"/>
          <p:nvPr/>
        </p:nvSpPr>
        <p:spPr>
          <a:xfrm>
            <a:off x="1463040" y="3200400"/>
            <a:ext cx="5486400" cy="30175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Trivy scans both images before push and fails on any HIGH or CRITICAL CVE - even unfixed ones</a:t>
            </a:r>
            <a:endParaRPr lang="en-US" sz="1400" dirty="0"/>
          </a:p>
          <a:p>
            <a:pPr marL="342900" indent="-342900">
              <a:spcAft>
                <a:spcPts val="600"/>
              </a:spcAft>
              <a:buSzPct val="100000"/>
              <a:buChar char="•"/>
            </a:pPr>
            <a:r>
              <a:rPr lang="en-US" sz="1500" dirty="0">
                <a:solidFill>
                  <a:schemeClr val="tx2"/>
                </a:solidFill>
              </a:rPr>
              <a:t>Example fixed: CVE-2026-85091, a heap overflow in zlib, removed by apk upgrade during the build</a:t>
            </a:r>
            <a:endParaRPr lang="en-US" sz="1400" dirty="0"/>
          </a:p>
          <a:p>
            <a:pPr marL="342900" indent="-342900">
              <a:spcAft>
                <a:spcPts val="600"/>
              </a:spcAft>
              <a:buSzPct val="100000"/>
              <a:buChar char="•"/>
            </a:pPr>
            <a:r>
              <a:rPr lang="en-US" sz="1500" dirty="0">
                <a:solidFill>
                  <a:schemeClr val="tx2"/>
                </a:solidFill>
              </a:rPr>
              <a:t>No secrets in Git: AWS keys only in aws configure and GitHub secrets; DB and Grafana passwords generated in-cluster</a:t>
            </a:r>
            <a:endParaRPr lang="en-US" sz="1400" dirty="0"/>
          </a:p>
          <a:p>
            <a:pPr marL="342900" indent="-342900">
              <a:spcAft>
                <a:spcPts val="600"/>
              </a:spcAft>
              <a:buSzPct val="100000"/>
              <a:buChar char="•"/>
            </a:pPr>
            <a:r>
              <a:rPr lang="en-US" sz="1500" dirty="0">
                <a:solidFill>
                  <a:schemeClr val="tx2"/>
                </a:solidFill>
              </a:rPr>
              <a:t>Read-only root filesystem for the backend, all Linux capabilities dropped, Pod Security restricted</a:t>
            </a:r>
            <a:endParaRPr lang="en-US" sz="1400" dirty="0"/>
          </a:p>
        </p:txBody>
      </p:sp>
      <p:pic>
        <p:nvPicPr>
          <p:cNvPr id="15" name="Trivy CI screenshot" descr="C:\Users\Asus\AppData\Local\Temp\claude\C--Users-Asus-Documents-3rd-year-term-1-devops-nency-mam\68230852-859c-4662-bacc-99c8e7e44c13\scratchpad\deck\img\m6-trivy-backend.png">    </p:cNvPr>
          <p:cNvPicPr>
            <a:picLocks noChangeAspect="1"/>
          </p:cNvPicPr>
          <p:nvPr/>
        </p:nvPicPr>
        <p:blipFill>
          <a:blip r:embed="rId2"/>
          <a:stretch>
            <a:fillRect/>
          </a:stretch>
        </p:blipFill>
        <p:spPr>
          <a:xfrm>
            <a:off x="7223760" y="3200400"/>
            <a:ext cx="4434840" cy="2442093"/>
          </a:xfrm>
          <a:prstGeom prst="rect">
            <a:avLst/>
          </a:prstGeom>
        </p:spPr>
      </p:pic>
      <p:sp>
        <p:nvSpPr>
          <p:cNvPr id="16" name="Trivy caption"/>
          <p:cNvSpPr txBox="1"/>
          <p:nvPr/>
        </p:nvSpPr>
        <p:spPr>
          <a:xfrm>
            <a:off x="7223760" y="5715000"/>
            <a:ext cx="4434840" cy="320040"/>
          </a:xfrm>
          <a:prstGeom prst="rect">
            <a:avLst/>
          </a:prstGeom>
          <a:noFill/>
          <a:ln/>
        </p:spPr>
        <p:txBody>
          <a:bodyPr wrap="square" lIns="0" tIns="0" rIns="0" bIns="0" rtlCol="0" anchor="t"/>
          <a:lstStyle/>
          <a:p>
            <a:pPr indent="0" marL="0">
              <a:buNone/>
            </a:pPr>
            <a:r>
              <a:rPr lang="en-US" sz="1100" i="1" dirty="0">
                <a:solidFill>
                  <a:schemeClr val="accent6"/>
                </a:solidFill>
              </a:rPr>
              <a:t>CI run: Trivy Report Summary - alpine 3.24.2, 0 vulnerabilities</a:t>
            </a:r>
            <a:endParaRPr lang="en-US" sz="11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Key learnings</a:t>
            </a:r>
            <a:endParaRPr lang="en-US" sz="3600" dirty="0"/>
          </a:p>
        </p:txBody>
      </p:sp>
      <p:sp>
        <p:nvSpPr>
          <p:cNvPr id="3" name="Learning 1"/>
          <p:cNvSpPr/>
          <p:nvPr/>
        </p:nvSpPr>
        <p:spPr>
          <a:xfrm>
            <a:off x="548640" y="1325880"/>
            <a:ext cx="3520440" cy="2240280"/>
          </a:xfrm>
          <a:prstGeom prst="roundRect">
            <a:avLst>
              <a:gd name="adj" fmla="val 4898"/>
            </a:avLst>
          </a:prstGeom>
          <a:solidFill>
            <a:schemeClr val="bg2"/>
          </a:solidFill>
          <a:ln/>
        </p:spPr>
      </p:sp>
      <p:sp>
        <p:nvSpPr>
          <p:cNvPr id="4" name="Learning 1 circle"/>
          <p:cNvSpPr/>
          <p:nvPr/>
        </p:nvSpPr>
        <p:spPr>
          <a:xfrm>
            <a:off x="777240" y="1554480"/>
            <a:ext cx="548640" cy="548640"/>
          </a:xfrm>
          <a:prstGeom prst="ellipse">
            <a:avLst/>
          </a:prstGeom>
          <a:solidFill>
            <a:schemeClr val="accent2"/>
          </a:solidFill>
          <a:ln/>
        </p:spPr>
      </p:sp>
      <p:pic>
        <p:nvPicPr>
          <p:cNvPr id="5" name="Learning 1 icon" descr="preencoded.png">    </p:cNvPr>
          <p:cNvPicPr>
            <a:picLocks noChangeAspect="1"/>
          </p:cNvPicPr>
          <p:nvPr/>
        </p:nvPicPr>
        <p:blipFill>
          <a:blip r:embed="rId1"/>
          <a:stretch>
            <a:fillRect/>
          </a:stretch>
        </p:blipFill>
        <p:spPr>
          <a:xfrm>
            <a:off x="897941" y="1675181"/>
            <a:ext cx="307238" cy="307238"/>
          </a:xfrm>
          <a:prstGeom prst="rect">
            <a:avLst/>
          </a:prstGeom>
        </p:spPr>
      </p:pic>
      <p:sp>
        <p:nvSpPr>
          <p:cNvPr id="6" name="Learning head 1"/>
          <p:cNvSpPr txBox="1"/>
          <p:nvPr/>
        </p:nvSpPr>
        <p:spPr>
          <a:xfrm>
            <a:off x="1463040" y="1572768"/>
            <a:ext cx="2423160" cy="548640"/>
          </a:xfrm>
          <a:prstGeom prst="rect">
            <a:avLst/>
          </a:prstGeom>
          <a:noFill/>
          <a:ln/>
        </p:spPr>
        <p:txBody>
          <a:bodyPr wrap="square" lIns="0" tIns="0" rIns="0" bIns="0" rtlCol="0" anchor="ctr"/>
          <a:lstStyle/>
          <a:p>
            <a:pPr indent="0" marL="0">
              <a:buNone/>
            </a:pPr>
            <a:r>
              <a:rPr lang="en-US" sz="1500" b="1" dirty="0">
                <a:solidFill>
                  <a:schemeClr val="tx1"/>
                </a:solidFill>
              </a:rPr>
              <a:t>Verify the account, not the docs</a:t>
            </a:r>
            <a:endParaRPr lang="en-US" sz="1500" dirty="0"/>
          </a:p>
        </p:txBody>
      </p:sp>
      <p:sp>
        <p:nvSpPr>
          <p:cNvPr id="7" name="Learning body 1"/>
          <p:cNvSpPr txBox="1"/>
          <p:nvPr/>
        </p:nvSpPr>
        <p:spPr>
          <a:xfrm>
            <a:off x="777240" y="2240280"/>
            <a:ext cx="3108960" cy="1234440"/>
          </a:xfrm>
          <a:prstGeom prst="rect">
            <a:avLst/>
          </a:prstGeom>
          <a:noFill/>
          <a:ln/>
        </p:spPr>
        <p:txBody>
          <a:bodyPr wrap="square" lIns="0" tIns="0" rIns="0" bIns="0" rtlCol="0" anchor="t"/>
          <a:lstStyle/>
          <a:p>
            <a:pPr indent="0" marL="0">
              <a:buNone/>
            </a:pPr>
            <a:r>
              <a:rPr lang="en-US" sz="1300" dirty="0">
                <a:solidFill>
                  <a:schemeClr val="tx2"/>
                </a:solidFill>
              </a:rPr>
              <a:t>A Free-plan AWS account can only launch Free-Tier types - t3.medium was blocked; a 1-minute real launch proved m7i-flex.large works.</a:t>
            </a:r>
            <a:endParaRPr lang="en-US" sz="1300" dirty="0"/>
          </a:p>
        </p:txBody>
      </p:sp>
      <p:sp>
        <p:nvSpPr>
          <p:cNvPr id="8" name="Learning 2"/>
          <p:cNvSpPr/>
          <p:nvPr/>
        </p:nvSpPr>
        <p:spPr>
          <a:xfrm>
            <a:off x="4297680" y="1325880"/>
            <a:ext cx="3520440" cy="2240280"/>
          </a:xfrm>
          <a:prstGeom prst="roundRect">
            <a:avLst>
              <a:gd name="adj" fmla="val 4898"/>
            </a:avLst>
          </a:prstGeom>
          <a:solidFill>
            <a:schemeClr val="bg2"/>
          </a:solidFill>
          <a:ln/>
        </p:spPr>
      </p:sp>
      <p:sp>
        <p:nvSpPr>
          <p:cNvPr id="9" name="Learning 2 circle"/>
          <p:cNvSpPr/>
          <p:nvPr/>
        </p:nvSpPr>
        <p:spPr>
          <a:xfrm>
            <a:off x="4526280" y="1554480"/>
            <a:ext cx="548640" cy="548640"/>
          </a:xfrm>
          <a:prstGeom prst="ellipse">
            <a:avLst/>
          </a:prstGeom>
          <a:solidFill>
            <a:schemeClr val="accent2"/>
          </a:solidFill>
          <a:ln/>
        </p:spPr>
      </p:sp>
      <p:pic>
        <p:nvPicPr>
          <p:cNvPr id="10" name="Learning 2 icon" descr="preencoded.png">    </p:cNvPr>
          <p:cNvPicPr>
            <a:picLocks noChangeAspect="1"/>
          </p:cNvPicPr>
          <p:nvPr/>
        </p:nvPicPr>
        <p:blipFill>
          <a:blip r:embed="rId2"/>
          <a:stretch>
            <a:fillRect/>
          </a:stretch>
        </p:blipFill>
        <p:spPr>
          <a:xfrm>
            <a:off x="4646981" y="1675181"/>
            <a:ext cx="307238" cy="307238"/>
          </a:xfrm>
          <a:prstGeom prst="rect">
            <a:avLst/>
          </a:prstGeom>
        </p:spPr>
      </p:pic>
      <p:sp>
        <p:nvSpPr>
          <p:cNvPr id="11" name="Learning head 2"/>
          <p:cNvSpPr txBox="1"/>
          <p:nvPr/>
        </p:nvSpPr>
        <p:spPr>
          <a:xfrm>
            <a:off x="5212080" y="1572768"/>
            <a:ext cx="2423160" cy="548640"/>
          </a:xfrm>
          <a:prstGeom prst="rect">
            <a:avLst/>
          </a:prstGeom>
          <a:noFill/>
          <a:ln/>
        </p:spPr>
        <p:txBody>
          <a:bodyPr wrap="square" lIns="0" tIns="0" rIns="0" bIns="0" rtlCol="0" anchor="ctr"/>
          <a:lstStyle/>
          <a:p>
            <a:pPr indent="0" marL="0">
              <a:buNone/>
            </a:pPr>
            <a:r>
              <a:rPr lang="en-US" sz="1500" b="1" dirty="0">
                <a:solidFill>
                  <a:schemeClr val="tx1"/>
                </a:solidFill>
              </a:rPr>
              <a:t>Defaults can break storage</a:t>
            </a:r>
            <a:endParaRPr lang="en-US" sz="1500" dirty="0"/>
          </a:p>
        </p:txBody>
      </p:sp>
      <p:sp>
        <p:nvSpPr>
          <p:cNvPr id="12" name="Learning body 2"/>
          <p:cNvSpPr txBox="1"/>
          <p:nvPr/>
        </p:nvSpPr>
        <p:spPr>
          <a:xfrm>
            <a:off x="4526280" y="2240280"/>
            <a:ext cx="3108960" cy="1234440"/>
          </a:xfrm>
          <a:prstGeom prst="rect">
            <a:avLst/>
          </a:prstGeom>
          <a:noFill/>
          <a:ln/>
        </p:spPr>
        <p:txBody>
          <a:bodyPr wrap="square" lIns="0" tIns="0" rIns="0" bIns="0" rtlCol="0" anchor="t"/>
          <a:lstStyle/>
          <a:p>
            <a:pPr indent="0" marL="0">
              <a:buNone/>
            </a:pPr>
            <a:r>
              <a:rPr lang="en-US" sz="1300" dirty="0">
                <a:solidFill>
                  <a:schemeClr val="tx2"/>
                </a:solidFill>
              </a:rPr>
              <a:t>The EKS module's IMDS hop limit of 1 left the EBS CSI driver without credentials; hop limit 2 fixed the database volume.</a:t>
            </a:r>
            <a:endParaRPr lang="en-US" sz="1300" dirty="0"/>
          </a:p>
        </p:txBody>
      </p:sp>
      <p:sp>
        <p:nvSpPr>
          <p:cNvPr id="13" name="Learning 3"/>
          <p:cNvSpPr/>
          <p:nvPr/>
        </p:nvSpPr>
        <p:spPr>
          <a:xfrm>
            <a:off x="8046720" y="1325880"/>
            <a:ext cx="3520440" cy="2240280"/>
          </a:xfrm>
          <a:prstGeom prst="roundRect">
            <a:avLst>
              <a:gd name="adj" fmla="val 4898"/>
            </a:avLst>
          </a:prstGeom>
          <a:solidFill>
            <a:schemeClr val="bg2"/>
          </a:solidFill>
          <a:ln/>
        </p:spPr>
      </p:sp>
      <p:sp>
        <p:nvSpPr>
          <p:cNvPr id="14" name="Learning 3 circle"/>
          <p:cNvSpPr/>
          <p:nvPr/>
        </p:nvSpPr>
        <p:spPr>
          <a:xfrm>
            <a:off x="8275320" y="1554480"/>
            <a:ext cx="548640" cy="548640"/>
          </a:xfrm>
          <a:prstGeom prst="ellipse">
            <a:avLst/>
          </a:prstGeom>
          <a:solidFill>
            <a:schemeClr val="accent2"/>
          </a:solidFill>
          <a:ln/>
        </p:spPr>
      </p:sp>
      <p:pic>
        <p:nvPicPr>
          <p:cNvPr id="15" name="Learning 3 icon" descr="preencoded.png">    </p:cNvPr>
          <p:cNvPicPr>
            <a:picLocks noChangeAspect="1"/>
          </p:cNvPicPr>
          <p:nvPr/>
        </p:nvPicPr>
        <p:blipFill>
          <a:blip r:embed="rId3"/>
          <a:stretch>
            <a:fillRect/>
          </a:stretch>
        </p:blipFill>
        <p:spPr>
          <a:xfrm>
            <a:off x="8396021" y="1675181"/>
            <a:ext cx="307238" cy="307238"/>
          </a:xfrm>
          <a:prstGeom prst="rect">
            <a:avLst/>
          </a:prstGeom>
        </p:spPr>
      </p:pic>
      <p:sp>
        <p:nvSpPr>
          <p:cNvPr id="16" name="Learning head 3"/>
          <p:cNvSpPr txBox="1"/>
          <p:nvPr/>
        </p:nvSpPr>
        <p:spPr>
          <a:xfrm>
            <a:off x="8961120" y="1572768"/>
            <a:ext cx="2423160" cy="548640"/>
          </a:xfrm>
          <a:prstGeom prst="rect">
            <a:avLst/>
          </a:prstGeom>
          <a:noFill/>
          <a:ln/>
        </p:spPr>
        <p:txBody>
          <a:bodyPr wrap="square" lIns="0" tIns="0" rIns="0" bIns="0" rtlCol="0" anchor="ctr"/>
          <a:lstStyle/>
          <a:p>
            <a:pPr indent="0" marL="0">
              <a:buNone/>
            </a:pPr>
            <a:r>
              <a:rPr lang="en-US" sz="1500" b="1" dirty="0">
                <a:solidFill>
                  <a:schemeClr val="tx1"/>
                </a:solidFill>
              </a:rPr>
              <a:t>GitOps changes chart design</a:t>
            </a:r>
            <a:endParaRPr lang="en-US" sz="1500" dirty="0"/>
          </a:p>
        </p:txBody>
      </p:sp>
      <p:sp>
        <p:nvSpPr>
          <p:cNvPr id="17" name="Learning body 3"/>
          <p:cNvSpPr txBox="1"/>
          <p:nvPr/>
        </p:nvSpPr>
        <p:spPr>
          <a:xfrm>
            <a:off x="8275320" y="2240280"/>
            <a:ext cx="3108960" cy="1234440"/>
          </a:xfrm>
          <a:prstGeom prst="rect">
            <a:avLst/>
          </a:prstGeom>
          <a:noFill/>
          <a:ln/>
        </p:spPr>
        <p:txBody>
          <a:bodyPr wrap="square" lIns="0" tIns="0" rIns="0" bIns="0" rtlCol="0" anchor="t"/>
          <a:lstStyle/>
          <a:p>
            <a:pPr indent="0" marL="0">
              <a:buNone/>
            </a:pPr>
            <a:r>
              <a:rPr lang="en-US" sz="1300" dirty="0">
                <a:solidFill>
                  <a:schemeClr val="tx2"/>
                </a:solidFill>
              </a:rPr>
              <a:t>Argo CD renders charts without Helm lookup, so the random DB password needed an existing Secret.</a:t>
            </a:r>
            <a:endParaRPr lang="en-US" sz="1300" dirty="0"/>
          </a:p>
        </p:txBody>
      </p:sp>
      <p:sp>
        <p:nvSpPr>
          <p:cNvPr id="18" name="Learning 4"/>
          <p:cNvSpPr/>
          <p:nvPr/>
        </p:nvSpPr>
        <p:spPr>
          <a:xfrm>
            <a:off x="548640" y="3794760"/>
            <a:ext cx="3520440" cy="2240280"/>
          </a:xfrm>
          <a:prstGeom prst="roundRect">
            <a:avLst>
              <a:gd name="adj" fmla="val 4898"/>
            </a:avLst>
          </a:prstGeom>
          <a:solidFill>
            <a:schemeClr val="bg2"/>
          </a:solidFill>
          <a:ln/>
        </p:spPr>
      </p:sp>
      <p:sp>
        <p:nvSpPr>
          <p:cNvPr id="19" name="Learning 4 circle"/>
          <p:cNvSpPr/>
          <p:nvPr/>
        </p:nvSpPr>
        <p:spPr>
          <a:xfrm>
            <a:off x="777240" y="4023360"/>
            <a:ext cx="548640" cy="548640"/>
          </a:xfrm>
          <a:prstGeom prst="ellipse">
            <a:avLst/>
          </a:prstGeom>
          <a:solidFill>
            <a:schemeClr val="accent2"/>
          </a:solidFill>
          <a:ln/>
        </p:spPr>
      </p:sp>
      <p:pic>
        <p:nvPicPr>
          <p:cNvPr id="20" name="Learning 4 icon" descr="preencoded.png">    </p:cNvPr>
          <p:cNvPicPr>
            <a:picLocks noChangeAspect="1"/>
          </p:cNvPicPr>
          <p:nvPr/>
        </p:nvPicPr>
        <p:blipFill>
          <a:blip r:embed="rId4"/>
          <a:stretch>
            <a:fillRect/>
          </a:stretch>
        </p:blipFill>
        <p:spPr>
          <a:xfrm>
            <a:off x="897941" y="4144061"/>
            <a:ext cx="307238" cy="307238"/>
          </a:xfrm>
          <a:prstGeom prst="rect">
            <a:avLst/>
          </a:prstGeom>
        </p:spPr>
      </p:pic>
      <p:sp>
        <p:nvSpPr>
          <p:cNvPr id="21" name="Learning head 4"/>
          <p:cNvSpPr txBox="1"/>
          <p:nvPr/>
        </p:nvSpPr>
        <p:spPr>
          <a:xfrm>
            <a:off x="1463040" y="4041648"/>
            <a:ext cx="2423160" cy="548640"/>
          </a:xfrm>
          <a:prstGeom prst="rect">
            <a:avLst/>
          </a:prstGeom>
          <a:noFill/>
          <a:ln/>
        </p:spPr>
        <p:txBody>
          <a:bodyPr wrap="square" lIns="0" tIns="0" rIns="0" bIns="0" rtlCol="0" anchor="ctr"/>
          <a:lstStyle/>
          <a:p>
            <a:pPr indent="0" marL="0">
              <a:buNone/>
            </a:pPr>
            <a:r>
              <a:rPr lang="en-US" sz="1500" b="1" dirty="0">
                <a:solidFill>
                  <a:schemeClr val="tx1"/>
                </a:solidFill>
              </a:rPr>
              <a:t>Don't hide CVEs, remove them</a:t>
            </a:r>
            <a:endParaRPr lang="en-US" sz="1500" dirty="0"/>
          </a:p>
        </p:txBody>
      </p:sp>
      <p:sp>
        <p:nvSpPr>
          <p:cNvPr id="22" name="Learning body 4"/>
          <p:cNvSpPr txBox="1"/>
          <p:nvPr/>
        </p:nvSpPr>
        <p:spPr>
          <a:xfrm>
            <a:off x="777240" y="4709160"/>
            <a:ext cx="3108960" cy="1234440"/>
          </a:xfrm>
          <a:prstGeom prst="rect">
            <a:avLst/>
          </a:prstGeom>
          <a:noFill/>
          <a:ln/>
        </p:spPr>
        <p:txBody>
          <a:bodyPr wrap="square" lIns="0" tIns="0" rIns="0" bIns="0" rtlCol="0" anchor="t"/>
          <a:lstStyle/>
          <a:p>
            <a:pPr indent="0" marL="0">
              <a:buNone/>
            </a:pPr>
            <a:r>
              <a:rPr lang="en-US" sz="1300" dirty="0">
                <a:solidFill>
                  <a:schemeClr val="tx2"/>
                </a:solidFill>
              </a:rPr>
              <a:t>ignore-unfixed hid 44 HIGH CVEs; a smaller base image and no pip removed them.</a:t>
            </a:r>
            <a:endParaRPr lang="en-US" sz="1300" dirty="0"/>
          </a:p>
        </p:txBody>
      </p:sp>
      <p:sp>
        <p:nvSpPr>
          <p:cNvPr id="23" name="Learning 5"/>
          <p:cNvSpPr/>
          <p:nvPr/>
        </p:nvSpPr>
        <p:spPr>
          <a:xfrm>
            <a:off x="4297680" y="3794760"/>
            <a:ext cx="3520440" cy="2240280"/>
          </a:xfrm>
          <a:prstGeom prst="roundRect">
            <a:avLst>
              <a:gd name="adj" fmla="val 4898"/>
            </a:avLst>
          </a:prstGeom>
          <a:solidFill>
            <a:schemeClr val="bg2"/>
          </a:solidFill>
          <a:ln/>
        </p:spPr>
      </p:sp>
      <p:sp>
        <p:nvSpPr>
          <p:cNvPr id="24" name="Learning 5 circle"/>
          <p:cNvSpPr/>
          <p:nvPr/>
        </p:nvSpPr>
        <p:spPr>
          <a:xfrm>
            <a:off x="4526280" y="4023360"/>
            <a:ext cx="548640" cy="548640"/>
          </a:xfrm>
          <a:prstGeom prst="ellipse">
            <a:avLst/>
          </a:prstGeom>
          <a:solidFill>
            <a:schemeClr val="accent2"/>
          </a:solidFill>
          <a:ln/>
        </p:spPr>
      </p:sp>
      <p:pic>
        <p:nvPicPr>
          <p:cNvPr id="25" name="Learning 5 icon" descr="preencoded.png">    </p:cNvPr>
          <p:cNvPicPr>
            <a:picLocks noChangeAspect="1"/>
          </p:cNvPicPr>
          <p:nvPr/>
        </p:nvPicPr>
        <p:blipFill>
          <a:blip r:embed="rId5"/>
          <a:stretch>
            <a:fillRect/>
          </a:stretch>
        </p:blipFill>
        <p:spPr>
          <a:xfrm>
            <a:off x="4646981" y="4144061"/>
            <a:ext cx="307238" cy="307238"/>
          </a:xfrm>
          <a:prstGeom prst="rect">
            <a:avLst/>
          </a:prstGeom>
        </p:spPr>
      </p:pic>
      <p:sp>
        <p:nvSpPr>
          <p:cNvPr id="26" name="Learning head 5"/>
          <p:cNvSpPr txBox="1"/>
          <p:nvPr/>
        </p:nvSpPr>
        <p:spPr>
          <a:xfrm>
            <a:off x="5212080" y="4041648"/>
            <a:ext cx="2423160" cy="548640"/>
          </a:xfrm>
          <a:prstGeom prst="rect">
            <a:avLst/>
          </a:prstGeom>
          <a:noFill/>
          <a:ln/>
        </p:spPr>
        <p:txBody>
          <a:bodyPr wrap="square" lIns="0" tIns="0" rIns="0" bIns="0" rtlCol="0" anchor="ctr"/>
          <a:lstStyle/>
          <a:p>
            <a:pPr indent="0" marL="0">
              <a:buNone/>
            </a:pPr>
            <a:r>
              <a:rPr lang="en-US" sz="1500" b="1" dirty="0">
                <a:solidFill>
                  <a:schemeClr val="tx1"/>
                </a:solidFill>
              </a:rPr>
              <a:t>Test in a real browser</a:t>
            </a:r>
            <a:endParaRPr lang="en-US" sz="1500" dirty="0"/>
          </a:p>
        </p:txBody>
      </p:sp>
      <p:sp>
        <p:nvSpPr>
          <p:cNvPr id="27" name="Learning body 5"/>
          <p:cNvSpPr txBox="1"/>
          <p:nvPr/>
        </p:nvSpPr>
        <p:spPr>
          <a:xfrm>
            <a:off x="4526280" y="4709160"/>
            <a:ext cx="3108960" cy="1234440"/>
          </a:xfrm>
          <a:prstGeom prst="rect">
            <a:avLst/>
          </a:prstGeom>
          <a:noFill/>
          <a:ln/>
        </p:spPr>
        <p:txBody>
          <a:bodyPr wrap="square" lIns="0" tIns="0" rIns="0" bIns="0" rtlCol="0" anchor="t"/>
          <a:lstStyle/>
          <a:p>
            <a:pPr indent="0" marL="0">
              <a:buNone/>
            </a:pPr>
            <a:r>
              <a:rPr lang="en-US" sz="1300" dirty="0">
                <a:solidFill>
                  <a:schemeClr val="tx2"/>
                </a:solidFill>
              </a:rPr>
              <a:t>A headless browser run found a date-picker bug that blocked bookings - unit tests had passed.</a:t>
            </a:r>
            <a:endParaRPr lang="en-US" sz="1300" dirty="0"/>
          </a:p>
        </p:txBody>
      </p:sp>
      <p:sp>
        <p:nvSpPr>
          <p:cNvPr id="28" name="Learning 6"/>
          <p:cNvSpPr/>
          <p:nvPr/>
        </p:nvSpPr>
        <p:spPr>
          <a:xfrm>
            <a:off x="8046720" y="3794760"/>
            <a:ext cx="3520440" cy="2240280"/>
          </a:xfrm>
          <a:prstGeom prst="roundRect">
            <a:avLst>
              <a:gd name="adj" fmla="val 4898"/>
            </a:avLst>
          </a:prstGeom>
          <a:solidFill>
            <a:schemeClr val="bg2"/>
          </a:solidFill>
          <a:ln/>
        </p:spPr>
      </p:sp>
      <p:sp>
        <p:nvSpPr>
          <p:cNvPr id="29" name="Learning 6 circle"/>
          <p:cNvSpPr/>
          <p:nvPr/>
        </p:nvSpPr>
        <p:spPr>
          <a:xfrm>
            <a:off x="8275320" y="4023360"/>
            <a:ext cx="548640" cy="548640"/>
          </a:xfrm>
          <a:prstGeom prst="ellipse">
            <a:avLst/>
          </a:prstGeom>
          <a:solidFill>
            <a:schemeClr val="accent2"/>
          </a:solidFill>
          <a:ln/>
        </p:spPr>
      </p:sp>
      <p:pic>
        <p:nvPicPr>
          <p:cNvPr id="30" name="Learning 6 icon" descr="preencoded.png">    </p:cNvPr>
          <p:cNvPicPr>
            <a:picLocks noChangeAspect="1"/>
          </p:cNvPicPr>
          <p:nvPr/>
        </p:nvPicPr>
        <p:blipFill>
          <a:blip r:embed="rId6"/>
          <a:stretch>
            <a:fillRect/>
          </a:stretch>
        </p:blipFill>
        <p:spPr>
          <a:xfrm>
            <a:off x="8396021" y="4144061"/>
            <a:ext cx="307238" cy="307238"/>
          </a:xfrm>
          <a:prstGeom prst="rect">
            <a:avLst/>
          </a:prstGeom>
        </p:spPr>
      </p:pic>
      <p:sp>
        <p:nvSpPr>
          <p:cNvPr id="31" name="Learning head 6"/>
          <p:cNvSpPr txBox="1"/>
          <p:nvPr/>
        </p:nvSpPr>
        <p:spPr>
          <a:xfrm>
            <a:off x="8961120" y="4041648"/>
            <a:ext cx="2423160" cy="548640"/>
          </a:xfrm>
          <a:prstGeom prst="rect">
            <a:avLst/>
          </a:prstGeom>
          <a:noFill/>
          <a:ln/>
        </p:spPr>
        <p:txBody>
          <a:bodyPr wrap="square" lIns="0" tIns="0" rIns="0" bIns="0" rtlCol="0" anchor="ctr"/>
          <a:lstStyle/>
          <a:p>
            <a:pPr indent="0" marL="0">
              <a:buNone/>
            </a:pPr>
            <a:r>
              <a:rPr lang="en-US" sz="1500" b="1" dirty="0">
                <a:solidFill>
                  <a:schemeClr val="tx1"/>
                </a:solidFill>
              </a:rPr>
              <a:t>Plan the teardown</a:t>
            </a:r>
            <a:endParaRPr lang="en-US" sz="1500" dirty="0"/>
          </a:p>
        </p:txBody>
      </p:sp>
      <p:sp>
        <p:nvSpPr>
          <p:cNvPr id="32" name="Learning body 6"/>
          <p:cNvSpPr txBox="1"/>
          <p:nvPr/>
        </p:nvSpPr>
        <p:spPr>
          <a:xfrm>
            <a:off x="8275320" y="4709160"/>
            <a:ext cx="3108960" cy="1234440"/>
          </a:xfrm>
          <a:prstGeom prst="rect">
            <a:avLst/>
          </a:prstGeom>
          <a:noFill/>
          <a:ln/>
        </p:spPr>
        <p:txBody>
          <a:bodyPr wrap="square" lIns="0" tIns="0" rIns="0" bIns="0" rtlCol="0" anchor="t"/>
          <a:lstStyle/>
          <a:p>
            <a:pPr indent="0" marL="0">
              <a:buNone/>
            </a:pPr>
            <a:r>
              <a:rPr lang="en-US" sz="1300" dirty="0">
                <a:solidFill>
                  <a:schemeClr val="tx2"/>
                </a:solidFill>
              </a:rPr>
              <a:t>Load balancers created by Kubernetes block terraform destroy - uninstall them first.</a:t>
            </a:r>
            <a:endParaRPr lang="en-US" sz="13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18872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Thank you</a:t>
            </a:r>
            <a:endParaRPr lang="en-US" sz="5400" dirty="0"/>
          </a:p>
        </p:txBody>
      </p:sp>
      <p:sp>
        <p:nvSpPr>
          <p:cNvPr id="3" name="Text 0"/>
          <p:cNvSpPr/>
          <p:nvPr>
            <p:ph idx="101" type="body" hasCustomPrompt="1"/>
          </p:nvPr>
        </p:nvSpPr>
        <p:spPr>
          <a:xfrm>
            <a:off x="731520" y="3429000"/>
            <a:ext cx="10698480" cy="1280160"/>
          </a:xfrm>
          <a:prstGeom prst="rect">
            <a:avLst/>
          </a:prstGeom>
          <a:noFill/>
          <a:ln/>
        </p:spPr>
        <p:txBody>
          <a:bodyPr wrap="square" lIns="0" tIns="0" rIns="0" bIns="0" rtlCol="0" anchor="t"/>
          <a:lstStyle/>
          <a:p>
            <a:pPr algn="l" indent="0" marL="0">
              <a:buNone/>
            </a:pPr>
            <a:r>
              <a:rPr lang="en-US" sz="2000" dirty="0">
                <a:solidFill>
                  <a:schemeClr val="bg2"/>
                </a:solidFill>
                <a:latin typeface="Calibri" pitchFamily="34" charset="0"/>
                <a:ea typeface="Calibri" pitchFamily="34" charset="-122"/>
                <a:cs typeface="Calibri" pitchFamily="34" charset="-120"/>
              </a:rPr>
              <a:t>Next steps: login and roles · HTTPS with a domain · Amazon RDS · S3 Terraform state · alerting</a:t>
            </a:r>
            <a:endParaRPr lang="en-US" sz="2000" dirty="0"/>
          </a:p>
          <a:p>
            <a:pPr algn="l" indent="0" marL="0">
              <a:buNone/>
            </a:pPr>
            <a:r>
              <a:rPr lang="en-US" sz="1600" dirty="0">
                <a:solidFill>
                  <a:schemeClr val="accent2"/>
                </a:solidFill>
                <a:latin typeface="Calibri" pitchFamily="34" charset="0"/>
                <a:ea typeface="Calibri" pitchFamily="34" charset="-122"/>
                <a:cs typeface="Calibri" pitchFamily="34" charset="-120"/>
              </a:rPr>
              <a:t>github.com/palak348/devops-inclass-assignment</a:t>
            </a:r>
            <a:endParaRPr lang="en-US" sz="2000" dirty="0"/>
          </a:p>
        </p:txBody>
      </p:sp>
      <p:sp>
        <p:nvSpPr>
          <p:cNvPr id="4" name="Close circle"/>
          <p:cNvSpPr/>
          <p:nvPr/>
        </p:nvSpPr>
        <p:spPr>
          <a:xfrm>
            <a:off x="9966960" y="731520"/>
            <a:ext cx="1371600" cy="1371600"/>
          </a:xfrm>
          <a:prstGeom prst="ellipse">
            <a:avLst/>
          </a:prstGeom>
          <a:solidFill>
            <a:schemeClr val="accent1"/>
          </a:solidFill>
          <a:ln/>
        </p:spPr>
      </p:sp>
      <p:pic>
        <p:nvPicPr>
          <p:cNvPr id="5" name="Close icon" descr="preencoded.png">    </p:cNvPr>
          <p:cNvPicPr>
            <a:picLocks noChangeAspect="1"/>
          </p:cNvPicPr>
          <p:nvPr/>
        </p:nvPicPr>
        <p:blipFill>
          <a:blip r:embed="rId1"/>
          <a:stretch>
            <a:fillRect/>
          </a:stretch>
        </p:blipFill>
        <p:spPr>
          <a:xfrm>
            <a:off x="10268712" y="1033272"/>
            <a:ext cx="768096" cy="768096"/>
          </a:xfrm>
          <a:prstGeom prst="rect">
            <a:avLst/>
          </a:prstGeom>
        </p:spPr>
      </p:pic>
    </p:spTree>
  </p:cSld>
  <p:clrMapOvr>
    <a:masterClrMapping/>
  </p:clrMapOvr>
</p:sld>
</file>

<file path=ppt/theme/theme1.xml><?xml version="1.0" encoding="utf-8"?>
<a:theme xmlns:a="http://schemas.openxmlformats.org/drawingml/2006/main" name="CareSlot Teal">
  <a:themeElements>
    <a:clrScheme name="CareSlot Teal">
      <a:dk1>
        <a:srgbClr val="0B2B2E"/>
      </a:dk1>
      <a:lt1>
        <a:srgbClr val="FFFFFF"/>
      </a:lt1>
      <a:dk2>
        <a:srgbClr val="35504F"/>
      </a:dk2>
      <a:lt2>
        <a:srgbClr val="EEF5F4"/>
      </a:lt2>
      <a:accent1>
        <a:srgbClr val="0F766E"/>
      </a:accent1>
      <a:accent2>
        <a:srgbClr val="D97706"/>
      </a:accent2>
      <a:accent3>
        <a:srgbClr val="2563EB"/>
      </a:accent3>
      <a:accent4>
        <a:srgbClr val="15803D"/>
      </a:accent4>
      <a:accent5>
        <a:srgbClr val="B42318"/>
      </a:accent5>
      <a:accent6>
        <a:srgbClr val="5B7375"/>
      </a:accent6>
      <a:hlink>
        <a:srgbClr val="0F766E"/>
      </a:hlink>
      <a:folHlink>
        <a:srgbClr val="5B7375"/>
      </a:folHlink>
    </a:clrScheme>
    <a:fontScheme name="CareSlot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CareSlot - DevOps capstone</dc:title>
  <dc:subject>PptxGenJS Presentation</dc:subject>
  <dc:creator>Palak Agrawal</dc:creator>
  <cp:lastModifiedBy>Palak Agrawal</cp:lastModifiedBy>
  <cp:revision>1</cp:revision>
  <dcterms:created xsi:type="dcterms:W3CDTF">2026-10-16T07:22:48Z</dcterms:created>
  <dcterms:modified xsi:type="dcterms:W3CDTF">2026-10-16T07:22:48Z</dcterms:modified>
</cp:coreProperties>
</file>